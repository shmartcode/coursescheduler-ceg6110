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73" r:id="rId7"/>
    <p:sldId id="261" r:id="rId8"/>
    <p:sldId id="262" r:id="rId9"/>
    <p:sldId id="263" r:id="rId10"/>
    <p:sldId id="274" r:id="rId11"/>
    <p:sldId id="275" r:id="rId12"/>
    <p:sldId id="264" r:id="rId13"/>
    <p:sldId id="265" r:id="rId14"/>
    <p:sldId id="266" r:id="rId15"/>
    <p:sldId id="267" r:id="rId16"/>
    <p:sldId id="268" r:id="rId17"/>
    <p:sldId id="269" r:id="rId18"/>
    <p:sldId id="270" r:id="rId19"/>
    <p:sldId id="271" r:id="rId20"/>
    <p:sldId id="272"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6"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F27F2-15BB-4793-B0B0-36CE57B80AF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66D720B-D87D-994D-6930-40160865D3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42933D9-B976-C129-1E14-86281E5EB29F}"/>
              </a:ext>
            </a:extLst>
          </p:cNvPr>
          <p:cNvSpPr>
            <a:spLocks noGrp="1"/>
          </p:cNvSpPr>
          <p:nvPr>
            <p:ph type="dt" sz="half" idx="10"/>
          </p:nvPr>
        </p:nvSpPr>
        <p:spPr/>
        <p:txBody>
          <a:bodyPr/>
          <a:lstStyle/>
          <a:p>
            <a:fld id="{E5257592-AD98-4594-8666-AFCA10F42F41}" type="datetimeFigureOut">
              <a:rPr lang="en-US" smtClean="0"/>
              <a:t>9/18/2025</a:t>
            </a:fld>
            <a:endParaRPr lang="en-US"/>
          </a:p>
        </p:txBody>
      </p:sp>
      <p:sp>
        <p:nvSpPr>
          <p:cNvPr id="5" name="Footer Placeholder 4">
            <a:extLst>
              <a:ext uri="{FF2B5EF4-FFF2-40B4-BE49-F238E27FC236}">
                <a16:creationId xmlns:a16="http://schemas.microsoft.com/office/drawing/2014/main" id="{2A554A52-0C97-5BDC-73C0-D3E04405C4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4FB268-2F22-3A90-ED10-572BAD807CC2}"/>
              </a:ext>
            </a:extLst>
          </p:cNvPr>
          <p:cNvSpPr>
            <a:spLocks noGrp="1"/>
          </p:cNvSpPr>
          <p:nvPr>
            <p:ph type="sldNum" sz="quarter" idx="12"/>
          </p:nvPr>
        </p:nvSpPr>
        <p:spPr/>
        <p:txBody>
          <a:bodyPr/>
          <a:lstStyle/>
          <a:p>
            <a:fld id="{67FC5A28-1039-4902-983D-32724643C820}" type="slidenum">
              <a:rPr lang="en-US" smtClean="0"/>
              <a:t>‹#›</a:t>
            </a:fld>
            <a:endParaRPr lang="en-US"/>
          </a:p>
        </p:txBody>
      </p:sp>
    </p:spTree>
    <p:extLst>
      <p:ext uri="{BB962C8B-B14F-4D97-AF65-F5344CB8AC3E}">
        <p14:creationId xmlns:p14="http://schemas.microsoft.com/office/powerpoint/2010/main" val="30530337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ABEF5-900B-12C6-5233-DD07AAC8BD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A1E04F6-7191-EED7-B8C5-74C5C8CE56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E9063B-2028-FDBD-B297-D22D2374637B}"/>
              </a:ext>
            </a:extLst>
          </p:cNvPr>
          <p:cNvSpPr>
            <a:spLocks noGrp="1"/>
          </p:cNvSpPr>
          <p:nvPr>
            <p:ph type="dt" sz="half" idx="10"/>
          </p:nvPr>
        </p:nvSpPr>
        <p:spPr/>
        <p:txBody>
          <a:bodyPr/>
          <a:lstStyle/>
          <a:p>
            <a:fld id="{E5257592-AD98-4594-8666-AFCA10F42F41}" type="datetimeFigureOut">
              <a:rPr lang="en-US" smtClean="0"/>
              <a:t>9/18/2025</a:t>
            </a:fld>
            <a:endParaRPr lang="en-US"/>
          </a:p>
        </p:txBody>
      </p:sp>
      <p:sp>
        <p:nvSpPr>
          <p:cNvPr id="5" name="Footer Placeholder 4">
            <a:extLst>
              <a:ext uri="{FF2B5EF4-FFF2-40B4-BE49-F238E27FC236}">
                <a16:creationId xmlns:a16="http://schemas.microsoft.com/office/drawing/2014/main" id="{7D8A12C1-0AB1-C382-3D72-E986BF22BB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5CAA59-859D-AEE6-EB3A-E5F4DBF60DF2}"/>
              </a:ext>
            </a:extLst>
          </p:cNvPr>
          <p:cNvSpPr>
            <a:spLocks noGrp="1"/>
          </p:cNvSpPr>
          <p:nvPr>
            <p:ph type="sldNum" sz="quarter" idx="12"/>
          </p:nvPr>
        </p:nvSpPr>
        <p:spPr/>
        <p:txBody>
          <a:bodyPr/>
          <a:lstStyle/>
          <a:p>
            <a:fld id="{67FC5A28-1039-4902-983D-32724643C820}" type="slidenum">
              <a:rPr lang="en-US" smtClean="0"/>
              <a:t>‹#›</a:t>
            </a:fld>
            <a:endParaRPr lang="en-US"/>
          </a:p>
        </p:txBody>
      </p:sp>
    </p:spTree>
    <p:extLst>
      <p:ext uri="{BB962C8B-B14F-4D97-AF65-F5344CB8AC3E}">
        <p14:creationId xmlns:p14="http://schemas.microsoft.com/office/powerpoint/2010/main" val="29285587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71503-EC1B-A0CC-8951-13709BDFCD2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60868F5-088E-CEA9-4B04-8C37B1EFB58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5F046DE-16F0-F0A3-1B16-B48A54CADBA2}"/>
              </a:ext>
            </a:extLst>
          </p:cNvPr>
          <p:cNvSpPr>
            <a:spLocks noGrp="1"/>
          </p:cNvSpPr>
          <p:nvPr>
            <p:ph type="dt" sz="half" idx="10"/>
          </p:nvPr>
        </p:nvSpPr>
        <p:spPr/>
        <p:txBody>
          <a:bodyPr/>
          <a:lstStyle/>
          <a:p>
            <a:fld id="{E5257592-AD98-4594-8666-AFCA10F42F41}" type="datetimeFigureOut">
              <a:rPr lang="en-US" smtClean="0"/>
              <a:t>9/18/2025</a:t>
            </a:fld>
            <a:endParaRPr lang="en-US"/>
          </a:p>
        </p:txBody>
      </p:sp>
      <p:sp>
        <p:nvSpPr>
          <p:cNvPr id="5" name="Footer Placeholder 4">
            <a:extLst>
              <a:ext uri="{FF2B5EF4-FFF2-40B4-BE49-F238E27FC236}">
                <a16:creationId xmlns:a16="http://schemas.microsoft.com/office/drawing/2014/main" id="{057253B8-7C14-3019-D335-9FF468C14B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48D984-2377-DDB1-BBE2-620442C5B76B}"/>
              </a:ext>
            </a:extLst>
          </p:cNvPr>
          <p:cNvSpPr>
            <a:spLocks noGrp="1"/>
          </p:cNvSpPr>
          <p:nvPr>
            <p:ph type="sldNum" sz="quarter" idx="12"/>
          </p:nvPr>
        </p:nvSpPr>
        <p:spPr/>
        <p:txBody>
          <a:bodyPr/>
          <a:lstStyle/>
          <a:p>
            <a:fld id="{67FC5A28-1039-4902-983D-32724643C820}" type="slidenum">
              <a:rPr lang="en-US" smtClean="0"/>
              <a:t>‹#›</a:t>
            </a:fld>
            <a:endParaRPr lang="en-US"/>
          </a:p>
        </p:txBody>
      </p:sp>
    </p:spTree>
    <p:extLst>
      <p:ext uri="{BB962C8B-B14F-4D97-AF65-F5344CB8AC3E}">
        <p14:creationId xmlns:p14="http://schemas.microsoft.com/office/powerpoint/2010/main" val="34420211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7F1A5-EED3-C15F-23C9-19330635BAE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0710CA-A9B3-44BB-0739-298D5FF5231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3896F40-FB83-AC52-EDB5-2417157BED0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B6F0B1B-EC3C-0E36-CFBB-6736AA1D0304}"/>
              </a:ext>
            </a:extLst>
          </p:cNvPr>
          <p:cNvSpPr>
            <a:spLocks noGrp="1"/>
          </p:cNvSpPr>
          <p:nvPr>
            <p:ph type="dt" sz="half" idx="10"/>
          </p:nvPr>
        </p:nvSpPr>
        <p:spPr/>
        <p:txBody>
          <a:bodyPr/>
          <a:lstStyle/>
          <a:p>
            <a:fld id="{E5257592-AD98-4594-8666-AFCA10F42F41}" type="datetimeFigureOut">
              <a:rPr lang="en-US" smtClean="0"/>
              <a:t>9/18/2025</a:t>
            </a:fld>
            <a:endParaRPr lang="en-US"/>
          </a:p>
        </p:txBody>
      </p:sp>
      <p:sp>
        <p:nvSpPr>
          <p:cNvPr id="6" name="Footer Placeholder 5">
            <a:extLst>
              <a:ext uri="{FF2B5EF4-FFF2-40B4-BE49-F238E27FC236}">
                <a16:creationId xmlns:a16="http://schemas.microsoft.com/office/drawing/2014/main" id="{873C77D9-EEAB-CDFE-7160-26E25C623C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792809-1E2B-4E78-B59B-EABB85B98592}"/>
              </a:ext>
            </a:extLst>
          </p:cNvPr>
          <p:cNvSpPr>
            <a:spLocks noGrp="1"/>
          </p:cNvSpPr>
          <p:nvPr>
            <p:ph type="sldNum" sz="quarter" idx="12"/>
          </p:nvPr>
        </p:nvSpPr>
        <p:spPr/>
        <p:txBody>
          <a:bodyPr/>
          <a:lstStyle/>
          <a:p>
            <a:fld id="{67FC5A28-1039-4902-983D-32724643C820}" type="slidenum">
              <a:rPr lang="en-US" smtClean="0"/>
              <a:t>‹#›</a:t>
            </a:fld>
            <a:endParaRPr lang="en-US"/>
          </a:p>
        </p:txBody>
      </p:sp>
    </p:spTree>
    <p:extLst>
      <p:ext uri="{BB962C8B-B14F-4D97-AF65-F5344CB8AC3E}">
        <p14:creationId xmlns:p14="http://schemas.microsoft.com/office/powerpoint/2010/main" val="17613765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89FAB-20BA-68E2-06AC-24D41FE34B6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2BA0E59-2228-108E-66D8-9038A72018A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C6E5C0-3940-BD44-3011-9AE1E444322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F8C05E1-82D9-5365-9C50-16F7C18157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C562613-AA18-8C81-C6C6-04B2C56C0B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4032882-2711-AA4F-E2F1-4E13198BA8DF}"/>
              </a:ext>
            </a:extLst>
          </p:cNvPr>
          <p:cNvSpPr>
            <a:spLocks noGrp="1"/>
          </p:cNvSpPr>
          <p:nvPr>
            <p:ph type="dt" sz="half" idx="10"/>
          </p:nvPr>
        </p:nvSpPr>
        <p:spPr/>
        <p:txBody>
          <a:bodyPr/>
          <a:lstStyle/>
          <a:p>
            <a:fld id="{E5257592-AD98-4594-8666-AFCA10F42F41}" type="datetimeFigureOut">
              <a:rPr lang="en-US" smtClean="0"/>
              <a:t>9/18/2025</a:t>
            </a:fld>
            <a:endParaRPr lang="en-US"/>
          </a:p>
        </p:txBody>
      </p:sp>
      <p:sp>
        <p:nvSpPr>
          <p:cNvPr id="8" name="Footer Placeholder 7">
            <a:extLst>
              <a:ext uri="{FF2B5EF4-FFF2-40B4-BE49-F238E27FC236}">
                <a16:creationId xmlns:a16="http://schemas.microsoft.com/office/drawing/2014/main" id="{208DA73F-3566-9681-DE75-287D443E63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298F3E-E224-9F88-C57C-4B96488A3C48}"/>
              </a:ext>
            </a:extLst>
          </p:cNvPr>
          <p:cNvSpPr>
            <a:spLocks noGrp="1"/>
          </p:cNvSpPr>
          <p:nvPr>
            <p:ph type="sldNum" sz="quarter" idx="12"/>
          </p:nvPr>
        </p:nvSpPr>
        <p:spPr/>
        <p:txBody>
          <a:bodyPr/>
          <a:lstStyle/>
          <a:p>
            <a:fld id="{67FC5A28-1039-4902-983D-32724643C820}" type="slidenum">
              <a:rPr lang="en-US" smtClean="0"/>
              <a:t>‹#›</a:t>
            </a:fld>
            <a:endParaRPr lang="en-US"/>
          </a:p>
        </p:txBody>
      </p:sp>
    </p:spTree>
    <p:extLst>
      <p:ext uri="{BB962C8B-B14F-4D97-AF65-F5344CB8AC3E}">
        <p14:creationId xmlns:p14="http://schemas.microsoft.com/office/powerpoint/2010/main" val="7505548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D6C3C-A813-62AA-E892-994ECB05462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D3519FA-481A-981A-D1DD-A5F0BCE19C7A}"/>
              </a:ext>
            </a:extLst>
          </p:cNvPr>
          <p:cNvSpPr>
            <a:spLocks noGrp="1"/>
          </p:cNvSpPr>
          <p:nvPr>
            <p:ph type="dt" sz="half" idx="10"/>
          </p:nvPr>
        </p:nvSpPr>
        <p:spPr/>
        <p:txBody>
          <a:bodyPr/>
          <a:lstStyle/>
          <a:p>
            <a:fld id="{E5257592-AD98-4594-8666-AFCA10F42F41}" type="datetimeFigureOut">
              <a:rPr lang="en-US" smtClean="0"/>
              <a:t>9/18/2025</a:t>
            </a:fld>
            <a:endParaRPr lang="en-US"/>
          </a:p>
        </p:txBody>
      </p:sp>
      <p:sp>
        <p:nvSpPr>
          <p:cNvPr id="4" name="Footer Placeholder 3">
            <a:extLst>
              <a:ext uri="{FF2B5EF4-FFF2-40B4-BE49-F238E27FC236}">
                <a16:creationId xmlns:a16="http://schemas.microsoft.com/office/drawing/2014/main" id="{41A50AFF-77F7-1FD1-548F-335A9F9FC8B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A2F65AB-EB24-3A90-F0CC-5873141916A4}"/>
              </a:ext>
            </a:extLst>
          </p:cNvPr>
          <p:cNvSpPr>
            <a:spLocks noGrp="1"/>
          </p:cNvSpPr>
          <p:nvPr>
            <p:ph type="sldNum" sz="quarter" idx="12"/>
          </p:nvPr>
        </p:nvSpPr>
        <p:spPr/>
        <p:txBody>
          <a:bodyPr/>
          <a:lstStyle/>
          <a:p>
            <a:fld id="{67FC5A28-1039-4902-983D-32724643C820}" type="slidenum">
              <a:rPr lang="en-US" smtClean="0"/>
              <a:t>‹#›</a:t>
            </a:fld>
            <a:endParaRPr lang="en-US"/>
          </a:p>
        </p:txBody>
      </p:sp>
    </p:spTree>
    <p:extLst>
      <p:ext uri="{BB962C8B-B14F-4D97-AF65-F5344CB8AC3E}">
        <p14:creationId xmlns:p14="http://schemas.microsoft.com/office/powerpoint/2010/main" val="538353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570AA4-3DBB-8578-0E2E-E3FB41D47BE7}"/>
              </a:ext>
            </a:extLst>
          </p:cNvPr>
          <p:cNvSpPr>
            <a:spLocks noGrp="1"/>
          </p:cNvSpPr>
          <p:nvPr>
            <p:ph type="dt" sz="half" idx="10"/>
          </p:nvPr>
        </p:nvSpPr>
        <p:spPr/>
        <p:txBody>
          <a:bodyPr/>
          <a:lstStyle/>
          <a:p>
            <a:fld id="{E5257592-AD98-4594-8666-AFCA10F42F41}" type="datetimeFigureOut">
              <a:rPr lang="en-US" smtClean="0"/>
              <a:t>9/18/2025</a:t>
            </a:fld>
            <a:endParaRPr lang="en-US"/>
          </a:p>
        </p:txBody>
      </p:sp>
      <p:sp>
        <p:nvSpPr>
          <p:cNvPr id="3" name="Footer Placeholder 2">
            <a:extLst>
              <a:ext uri="{FF2B5EF4-FFF2-40B4-BE49-F238E27FC236}">
                <a16:creationId xmlns:a16="http://schemas.microsoft.com/office/drawing/2014/main" id="{34EDCB43-0427-15A0-797A-D2D1A693CD1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E244F0C-F4EF-E602-4C5E-B14C629C5516}"/>
              </a:ext>
            </a:extLst>
          </p:cNvPr>
          <p:cNvSpPr>
            <a:spLocks noGrp="1"/>
          </p:cNvSpPr>
          <p:nvPr>
            <p:ph type="sldNum" sz="quarter" idx="12"/>
          </p:nvPr>
        </p:nvSpPr>
        <p:spPr/>
        <p:txBody>
          <a:bodyPr/>
          <a:lstStyle/>
          <a:p>
            <a:fld id="{67FC5A28-1039-4902-983D-32724643C820}" type="slidenum">
              <a:rPr lang="en-US" smtClean="0"/>
              <a:t>‹#›</a:t>
            </a:fld>
            <a:endParaRPr lang="en-US"/>
          </a:p>
        </p:txBody>
      </p:sp>
    </p:spTree>
    <p:extLst>
      <p:ext uri="{BB962C8B-B14F-4D97-AF65-F5344CB8AC3E}">
        <p14:creationId xmlns:p14="http://schemas.microsoft.com/office/powerpoint/2010/main" val="24958932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A9094-EDB0-F3DB-84CC-68ED738344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58DB25C-355A-C9A0-619D-697D6E4D2C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16178FE-01D1-1424-9754-9327C6942F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6E3582-DC2D-954F-CA14-09AEEC17BB09}"/>
              </a:ext>
            </a:extLst>
          </p:cNvPr>
          <p:cNvSpPr>
            <a:spLocks noGrp="1"/>
          </p:cNvSpPr>
          <p:nvPr>
            <p:ph type="dt" sz="half" idx="10"/>
          </p:nvPr>
        </p:nvSpPr>
        <p:spPr/>
        <p:txBody>
          <a:bodyPr/>
          <a:lstStyle/>
          <a:p>
            <a:fld id="{E5257592-AD98-4594-8666-AFCA10F42F41}" type="datetimeFigureOut">
              <a:rPr lang="en-US" smtClean="0"/>
              <a:t>9/18/2025</a:t>
            </a:fld>
            <a:endParaRPr lang="en-US"/>
          </a:p>
        </p:txBody>
      </p:sp>
      <p:sp>
        <p:nvSpPr>
          <p:cNvPr id="6" name="Footer Placeholder 5">
            <a:extLst>
              <a:ext uri="{FF2B5EF4-FFF2-40B4-BE49-F238E27FC236}">
                <a16:creationId xmlns:a16="http://schemas.microsoft.com/office/drawing/2014/main" id="{2F273447-33FB-55B2-93CA-FC683DC9DA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A6EC49-9417-BD32-65E6-27CBFA49BB95}"/>
              </a:ext>
            </a:extLst>
          </p:cNvPr>
          <p:cNvSpPr>
            <a:spLocks noGrp="1"/>
          </p:cNvSpPr>
          <p:nvPr>
            <p:ph type="sldNum" sz="quarter" idx="12"/>
          </p:nvPr>
        </p:nvSpPr>
        <p:spPr/>
        <p:txBody>
          <a:bodyPr/>
          <a:lstStyle/>
          <a:p>
            <a:fld id="{67FC5A28-1039-4902-983D-32724643C820}" type="slidenum">
              <a:rPr lang="en-US" smtClean="0"/>
              <a:t>‹#›</a:t>
            </a:fld>
            <a:endParaRPr lang="en-US"/>
          </a:p>
        </p:txBody>
      </p:sp>
    </p:spTree>
    <p:extLst>
      <p:ext uri="{BB962C8B-B14F-4D97-AF65-F5344CB8AC3E}">
        <p14:creationId xmlns:p14="http://schemas.microsoft.com/office/powerpoint/2010/main" val="1566666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CBF2D-55D2-0254-604F-9C4FBB9211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4AD3CCD-CE8D-4B14-4F2F-823D94B1CD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7C26407-7418-A006-40CC-4211C16875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E21543-97FA-C31E-3275-A4BE1B6B7509}"/>
              </a:ext>
            </a:extLst>
          </p:cNvPr>
          <p:cNvSpPr>
            <a:spLocks noGrp="1"/>
          </p:cNvSpPr>
          <p:nvPr>
            <p:ph type="dt" sz="half" idx="10"/>
          </p:nvPr>
        </p:nvSpPr>
        <p:spPr/>
        <p:txBody>
          <a:bodyPr/>
          <a:lstStyle/>
          <a:p>
            <a:fld id="{E5257592-AD98-4594-8666-AFCA10F42F41}" type="datetimeFigureOut">
              <a:rPr lang="en-US" smtClean="0"/>
              <a:t>9/18/2025</a:t>
            </a:fld>
            <a:endParaRPr lang="en-US"/>
          </a:p>
        </p:txBody>
      </p:sp>
      <p:sp>
        <p:nvSpPr>
          <p:cNvPr id="6" name="Footer Placeholder 5">
            <a:extLst>
              <a:ext uri="{FF2B5EF4-FFF2-40B4-BE49-F238E27FC236}">
                <a16:creationId xmlns:a16="http://schemas.microsoft.com/office/drawing/2014/main" id="{98B0BDBF-221B-57EF-9984-CC2E991625F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29BBED-4570-0C53-5EC3-E2DD728E071D}"/>
              </a:ext>
            </a:extLst>
          </p:cNvPr>
          <p:cNvSpPr>
            <a:spLocks noGrp="1"/>
          </p:cNvSpPr>
          <p:nvPr>
            <p:ph type="sldNum" sz="quarter" idx="12"/>
          </p:nvPr>
        </p:nvSpPr>
        <p:spPr/>
        <p:txBody>
          <a:bodyPr/>
          <a:lstStyle/>
          <a:p>
            <a:fld id="{67FC5A28-1039-4902-983D-32724643C820}" type="slidenum">
              <a:rPr lang="en-US" smtClean="0"/>
              <a:t>‹#›</a:t>
            </a:fld>
            <a:endParaRPr lang="en-US"/>
          </a:p>
        </p:txBody>
      </p:sp>
    </p:spTree>
    <p:extLst>
      <p:ext uri="{BB962C8B-B14F-4D97-AF65-F5344CB8AC3E}">
        <p14:creationId xmlns:p14="http://schemas.microsoft.com/office/powerpoint/2010/main" val="3633418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1DD15-7884-F653-2DD7-35A2AA1379C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4516CD5-ADA1-86CF-C5FD-99EF59966D8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36AD5E-CB6F-8123-D295-730AD7BF9002}"/>
              </a:ext>
            </a:extLst>
          </p:cNvPr>
          <p:cNvSpPr>
            <a:spLocks noGrp="1"/>
          </p:cNvSpPr>
          <p:nvPr>
            <p:ph type="dt" sz="half" idx="10"/>
          </p:nvPr>
        </p:nvSpPr>
        <p:spPr/>
        <p:txBody>
          <a:bodyPr/>
          <a:lstStyle/>
          <a:p>
            <a:fld id="{E5257592-AD98-4594-8666-AFCA10F42F41}" type="datetimeFigureOut">
              <a:rPr lang="en-US" smtClean="0"/>
              <a:t>9/18/2025</a:t>
            </a:fld>
            <a:endParaRPr lang="en-US"/>
          </a:p>
        </p:txBody>
      </p:sp>
      <p:sp>
        <p:nvSpPr>
          <p:cNvPr id="5" name="Footer Placeholder 4">
            <a:extLst>
              <a:ext uri="{FF2B5EF4-FFF2-40B4-BE49-F238E27FC236}">
                <a16:creationId xmlns:a16="http://schemas.microsoft.com/office/drawing/2014/main" id="{E6C6DC65-4667-6B92-5822-9A09F3AD83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97B92A-73C8-B6E1-288F-233C156576AC}"/>
              </a:ext>
            </a:extLst>
          </p:cNvPr>
          <p:cNvSpPr>
            <a:spLocks noGrp="1"/>
          </p:cNvSpPr>
          <p:nvPr>
            <p:ph type="sldNum" sz="quarter" idx="12"/>
          </p:nvPr>
        </p:nvSpPr>
        <p:spPr/>
        <p:txBody>
          <a:bodyPr/>
          <a:lstStyle/>
          <a:p>
            <a:fld id="{67FC5A28-1039-4902-983D-32724643C820}" type="slidenum">
              <a:rPr lang="en-US" smtClean="0"/>
              <a:t>‹#›</a:t>
            </a:fld>
            <a:endParaRPr lang="en-US"/>
          </a:p>
        </p:txBody>
      </p:sp>
    </p:spTree>
    <p:extLst>
      <p:ext uri="{BB962C8B-B14F-4D97-AF65-F5344CB8AC3E}">
        <p14:creationId xmlns:p14="http://schemas.microsoft.com/office/powerpoint/2010/main" val="19207328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8C0E52-F9EB-6D4D-6A63-E9FF7B3A779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A7529F6-60A0-B7BE-CB87-6331BA58CD3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5537D7-41AA-52CE-7A18-5D9E523F26C9}"/>
              </a:ext>
            </a:extLst>
          </p:cNvPr>
          <p:cNvSpPr>
            <a:spLocks noGrp="1"/>
          </p:cNvSpPr>
          <p:nvPr>
            <p:ph type="dt" sz="half" idx="10"/>
          </p:nvPr>
        </p:nvSpPr>
        <p:spPr/>
        <p:txBody>
          <a:bodyPr/>
          <a:lstStyle/>
          <a:p>
            <a:fld id="{E5257592-AD98-4594-8666-AFCA10F42F41}" type="datetimeFigureOut">
              <a:rPr lang="en-US" smtClean="0"/>
              <a:t>9/18/2025</a:t>
            </a:fld>
            <a:endParaRPr lang="en-US"/>
          </a:p>
        </p:txBody>
      </p:sp>
      <p:sp>
        <p:nvSpPr>
          <p:cNvPr id="5" name="Footer Placeholder 4">
            <a:extLst>
              <a:ext uri="{FF2B5EF4-FFF2-40B4-BE49-F238E27FC236}">
                <a16:creationId xmlns:a16="http://schemas.microsoft.com/office/drawing/2014/main" id="{7CFC2866-0366-14E6-39FB-2C158B526E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B39B5D-10D8-0E7A-3718-A9F51DDEB594}"/>
              </a:ext>
            </a:extLst>
          </p:cNvPr>
          <p:cNvSpPr>
            <a:spLocks noGrp="1"/>
          </p:cNvSpPr>
          <p:nvPr>
            <p:ph type="sldNum" sz="quarter" idx="12"/>
          </p:nvPr>
        </p:nvSpPr>
        <p:spPr/>
        <p:txBody>
          <a:bodyPr/>
          <a:lstStyle/>
          <a:p>
            <a:fld id="{67FC5A28-1039-4902-983D-32724643C820}" type="slidenum">
              <a:rPr lang="en-US" smtClean="0"/>
              <a:t>‹#›</a:t>
            </a:fld>
            <a:endParaRPr lang="en-US"/>
          </a:p>
        </p:txBody>
      </p:sp>
    </p:spTree>
    <p:extLst>
      <p:ext uri="{BB962C8B-B14F-4D97-AF65-F5344CB8AC3E}">
        <p14:creationId xmlns:p14="http://schemas.microsoft.com/office/powerpoint/2010/main" val="42402455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96E91C1-C461-4664-08FA-4C23067C21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4E6389D-C111-7BD5-7F9A-08BA181D9A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7FDDF3-2DCD-58A3-5D72-71DCFDC19CD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5257592-AD98-4594-8666-AFCA10F42F41}" type="datetimeFigureOut">
              <a:rPr lang="en-US" smtClean="0"/>
              <a:t>9/18/2025</a:t>
            </a:fld>
            <a:endParaRPr lang="en-US"/>
          </a:p>
        </p:txBody>
      </p:sp>
      <p:sp>
        <p:nvSpPr>
          <p:cNvPr id="5" name="Footer Placeholder 4">
            <a:extLst>
              <a:ext uri="{FF2B5EF4-FFF2-40B4-BE49-F238E27FC236}">
                <a16:creationId xmlns:a16="http://schemas.microsoft.com/office/drawing/2014/main" id="{F5B7208E-6AEB-A562-CA83-F506AEF6C4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B0C9A81-FC5C-B593-6E3C-7DA7CA50A0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7FC5A28-1039-4902-983D-32724643C820}" type="slidenum">
              <a:rPr lang="en-US" smtClean="0"/>
              <a:t>‹#›</a:t>
            </a:fld>
            <a:endParaRPr lang="en-US"/>
          </a:p>
        </p:txBody>
      </p:sp>
    </p:spTree>
    <p:extLst>
      <p:ext uri="{BB962C8B-B14F-4D97-AF65-F5344CB8AC3E}">
        <p14:creationId xmlns:p14="http://schemas.microsoft.com/office/powerpoint/2010/main" val="19026936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BD74C-B806-642C-1A80-F21DBA3C3F0E}"/>
              </a:ext>
            </a:extLst>
          </p:cNvPr>
          <p:cNvSpPr>
            <a:spLocks noGrp="1"/>
          </p:cNvSpPr>
          <p:nvPr>
            <p:ph type="ctrTitle"/>
          </p:nvPr>
        </p:nvSpPr>
        <p:spPr/>
        <p:txBody>
          <a:bodyPr/>
          <a:lstStyle/>
          <a:p>
            <a:r>
              <a:rPr lang="en-US" dirty="0"/>
              <a:t>[Magic Schedule Generator]</a:t>
            </a:r>
          </a:p>
        </p:txBody>
      </p:sp>
      <p:sp>
        <p:nvSpPr>
          <p:cNvPr id="3" name="Subtitle 2">
            <a:extLst>
              <a:ext uri="{FF2B5EF4-FFF2-40B4-BE49-F238E27FC236}">
                <a16:creationId xmlns:a16="http://schemas.microsoft.com/office/drawing/2014/main" id="{2AC08098-433B-68F6-C828-B1B41BFB39FA}"/>
              </a:ext>
            </a:extLst>
          </p:cNvPr>
          <p:cNvSpPr>
            <a:spLocks noGrp="1"/>
          </p:cNvSpPr>
          <p:nvPr>
            <p:ph type="subTitle" idx="1"/>
          </p:nvPr>
        </p:nvSpPr>
        <p:spPr/>
        <p:txBody>
          <a:bodyPr/>
          <a:lstStyle/>
          <a:p>
            <a:r>
              <a:rPr lang="en-US" dirty="0"/>
              <a:t>[Magic School Kids]</a:t>
            </a:r>
          </a:p>
        </p:txBody>
      </p:sp>
    </p:spTree>
    <p:extLst>
      <p:ext uri="{BB962C8B-B14F-4D97-AF65-F5344CB8AC3E}">
        <p14:creationId xmlns:p14="http://schemas.microsoft.com/office/powerpoint/2010/main" val="1008073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8596D-91C3-7C4B-DF74-A49DE6B94C1A}"/>
              </a:ext>
            </a:extLst>
          </p:cNvPr>
          <p:cNvSpPr>
            <a:spLocks noGrp="1"/>
          </p:cNvSpPr>
          <p:nvPr>
            <p:ph type="title"/>
          </p:nvPr>
        </p:nvSpPr>
        <p:spPr/>
        <p:txBody>
          <a:bodyPr/>
          <a:lstStyle/>
          <a:p>
            <a:r>
              <a:rPr lang="en-US" dirty="0"/>
              <a:t>Definitions </a:t>
            </a:r>
          </a:p>
        </p:txBody>
      </p:sp>
      <p:sp>
        <p:nvSpPr>
          <p:cNvPr id="3" name="Content Placeholder 2">
            <a:extLst>
              <a:ext uri="{FF2B5EF4-FFF2-40B4-BE49-F238E27FC236}">
                <a16:creationId xmlns:a16="http://schemas.microsoft.com/office/drawing/2014/main" id="{2B5844E2-CB55-0BDC-BC11-76E756F342CA}"/>
              </a:ext>
            </a:extLst>
          </p:cNvPr>
          <p:cNvSpPr>
            <a:spLocks noGrp="1"/>
          </p:cNvSpPr>
          <p:nvPr>
            <p:ph idx="1"/>
          </p:nvPr>
        </p:nvSpPr>
        <p:spPr/>
        <p:txBody>
          <a:bodyPr/>
          <a:lstStyle/>
          <a:p>
            <a:r>
              <a:rPr lang="en-US" dirty="0"/>
              <a:t>Priority (P) – 1 to 10, 1 being lowest.</a:t>
            </a:r>
          </a:p>
          <a:p>
            <a:r>
              <a:rPr lang="en-US" dirty="0"/>
              <a:t>Volatility (V) – 1 to 10, 1 being lowest.</a:t>
            </a:r>
          </a:p>
          <a:p>
            <a:r>
              <a:rPr lang="en-US" dirty="0"/>
              <a:t>Functional (F) – i.e. what should the system do.</a:t>
            </a:r>
          </a:p>
          <a:p>
            <a:r>
              <a:rPr lang="en-US" dirty="0"/>
              <a:t>Non-functional (NF) – i.e. how well does the system work. </a:t>
            </a:r>
          </a:p>
          <a:p>
            <a:r>
              <a:rPr lang="en-US" dirty="0"/>
              <a:t>Standalone (S) – i.e. does not depend on another requirement.</a:t>
            </a:r>
          </a:p>
          <a:p>
            <a:r>
              <a:rPr lang="en-US" dirty="0"/>
              <a:t>Dependent (D) – i.e. depends on another requirement. </a:t>
            </a:r>
          </a:p>
          <a:p>
            <a:r>
              <a:rPr lang="en-US" dirty="0"/>
              <a:t>Time (T) – measured in weeks. </a:t>
            </a:r>
          </a:p>
        </p:txBody>
      </p:sp>
    </p:spTree>
    <p:extLst>
      <p:ext uri="{BB962C8B-B14F-4D97-AF65-F5344CB8AC3E}">
        <p14:creationId xmlns:p14="http://schemas.microsoft.com/office/powerpoint/2010/main" val="11577413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3B212-0F81-53D5-4D82-45FB1776E89B}"/>
              </a:ext>
            </a:extLst>
          </p:cNvPr>
          <p:cNvSpPr>
            <a:spLocks noGrp="1"/>
          </p:cNvSpPr>
          <p:nvPr>
            <p:ph type="title"/>
          </p:nvPr>
        </p:nvSpPr>
        <p:spPr/>
        <p:txBody>
          <a:bodyPr/>
          <a:lstStyle/>
          <a:p>
            <a:r>
              <a:rPr lang="en-US" dirty="0"/>
              <a:t>Login and Authentication</a:t>
            </a:r>
          </a:p>
        </p:txBody>
      </p:sp>
      <p:sp>
        <p:nvSpPr>
          <p:cNvPr id="3" name="Content Placeholder 2">
            <a:extLst>
              <a:ext uri="{FF2B5EF4-FFF2-40B4-BE49-F238E27FC236}">
                <a16:creationId xmlns:a16="http://schemas.microsoft.com/office/drawing/2014/main" id="{B8BB0DF9-51B0-7EF2-30A7-3B7AB2B66920}"/>
              </a:ext>
            </a:extLst>
          </p:cNvPr>
          <p:cNvSpPr>
            <a:spLocks noGrp="1"/>
          </p:cNvSpPr>
          <p:nvPr>
            <p:ph idx="1"/>
          </p:nvPr>
        </p:nvSpPr>
        <p:spPr/>
        <p:txBody>
          <a:bodyPr/>
          <a:lstStyle/>
          <a:p>
            <a:r>
              <a:rPr lang="en-US" dirty="0"/>
              <a:t>The user will be displayed a login screen and be able to login to the program using an 8-character username and 12-character password that includes 1 uppercase character, 1 lowercase character, 1 numeric character, and 1 symbol. </a:t>
            </a:r>
          </a:p>
        </p:txBody>
      </p:sp>
    </p:spTree>
    <p:extLst>
      <p:ext uri="{BB962C8B-B14F-4D97-AF65-F5344CB8AC3E}">
        <p14:creationId xmlns:p14="http://schemas.microsoft.com/office/powerpoint/2010/main" val="689540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D6CEB-F09C-E985-2209-DFA047763A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7F96A0-AC2B-0A29-286A-BCE0606E7BD9}"/>
              </a:ext>
            </a:extLst>
          </p:cNvPr>
          <p:cNvSpPr>
            <a:spLocks noGrp="1"/>
          </p:cNvSpPr>
          <p:nvPr>
            <p:ph type="title"/>
          </p:nvPr>
        </p:nvSpPr>
        <p:spPr/>
        <p:txBody>
          <a:bodyPr/>
          <a:lstStyle/>
          <a:p>
            <a:r>
              <a:rPr lang="en-US" dirty="0"/>
              <a:t>Login and Authentication</a:t>
            </a:r>
          </a:p>
        </p:txBody>
      </p:sp>
      <p:sp>
        <p:nvSpPr>
          <p:cNvPr id="3" name="Content Placeholder 2">
            <a:extLst>
              <a:ext uri="{FF2B5EF4-FFF2-40B4-BE49-F238E27FC236}">
                <a16:creationId xmlns:a16="http://schemas.microsoft.com/office/drawing/2014/main" id="{4DC2BAE4-57C0-C262-C181-4E46D99970D1}"/>
              </a:ext>
            </a:extLst>
          </p:cNvPr>
          <p:cNvSpPr>
            <a:spLocks noGrp="1"/>
          </p:cNvSpPr>
          <p:nvPr>
            <p:ph idx="1"/>
          </p:nvPr>
        </p:nvSpPr>
        <p:spPr/>
        <p:txBody>
          <a:bodyPr/>
          <a:lstStyle/>
          <a:p>
            <a:r>
              <a:rPr lang="en-US" dirty="0"/>
              <a:t>Priority: 10</a:t>
            </a:r>
          </a:p>
          <a:p>
            <a:r>
              <a:rPr lang="en-US" dirty="0"/>
              <a:t>Volatility: 2</a:t>
            </a:r>
          </a:p>
          <a:p>
            <a:r>
              <a:rPr lang="en-US" dirty="0"/>
              <a:t>Functional or Non-functional: F</a:t>
            </a:r>
          </a:p>
          <a:p>
            <a:r>
              <a:rPr lang="en-US" dirty="0"/>
              <a:t>Standalone or Dependent: D as it depends on a functional database contain account login information</a:t>
            </a:r>
          </a:p>
          <a:p>
            <a:r>
              <a:rPr lang="en-US" dirty="0"/>
              <a:t>T: 2-week</a:t>
            </a:r>
          </a:p>
          <a:p>
            <a:r>
              <a:rPr lang="en-US" dirty="0"/>
              <a:t>Developer: Luke</a:t>
            </a:r>
          </a:p>
          <a:p>
            <a:r>
              <a:rPr lang="en-US" dirty="0"/>
              <a:t>Tester: Josiah</a:t>
            </a:r>
          </a:p>
        </p:txBody>
      </p:sp>
    </p:spTree>
    <p:extLst>
      <p:ext uri="{BB962C8B-B14F-4D97-AF65-F5344CB8AC3E}">
        <p14:creationId xmlns:p14="http://schemas.microsoft.com/office/powerpoint/2010/main" val="10730980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9DCC8-3077-E206-3DF6-4703E02030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AB1E36-6A50-4582-ACE7-32CA2980704A}"/>
              </a:ext>
            </a:extLst>
          </p:cNvPr>
          <p:cNvSpPr>
            <a:spLocks noGrp="1"/>
          </p:cNvSpPr>
          <p:nvPr>
            <p:ph type="title"/>
          </p:nvPr>
        </p:nvSpPr>
        <p:spPr>
          <a:xfrm>
            <a:off x="838200" y="525589"/>
            <a:ext cx="10515600" cy="1325563"/>
          </a:xfrm>
        </p:spPr>
        <p:txBody>
          <a:bodyPr/>
          <a:lstStyle/>
          <a:p>
            <a:r>
              <a:rPr lang="en-US" dirty="0"/>
              <a:t>Username Test Cases</a:t>
            </a:r>
          </a:p>
        </p:txBody>
      </p:sp>
      <p:sp>
        <p:nvSpPr>
          <p:cNvPr id="3" name="Content Placeholder 2">
            <a:extLst>
              <a:ext uri="{FF2B5EF4-FFF2-40B4-BE49-F238E27FC236}">
                <a16:creationId xmlns:a16="http://schemas.microsoft.com/office/drawing/2014/main" id="{6BEAB9B7-F0BB-F915-14CC-521AE82DD5F3}"/>
              </a:ext>
            </a:extLst>
          </p:cNvPr>
          <p:cNvSpPr>
            <a:spLocks noGrp="1"/>
          </p:cNvSpPr>
          <p:nvPr>
            <p:ph idx="1"/>
          </p:nvPr>
        </p:nvSpPr>
        <p:spPr>
          <a:xfrm>
            <a:off x="992124" y="1981073"/>
            <a:ext cx="10207752" cy="4351338"/>
          </a:xfrm>
        </p:spPr>
        <p:txBody>
          <a:bodyPr>
            <a:normAutofit/>
          </a:bodyPr>
          <a:lstStyle/>
          <a:p>
            <a:pPr marL="514350" indent="-514350">
              <a:buFont typeface="+mj-lt"/>
              <a:buAutoNum type="arabicPeriod"/>
            </a:pPr>
            <a:r>
              <a:rPr lang="en-US" sz="2400" dirty="0"/>
              <a:t>Test with 7 lowercase characters. </a:t>
            </a:r>
          </a:p>
          <a:p>
            <a:pPr marL="514350" indent="-514350">
              <a:buFont typeface="+mj-lt"/>
              <a:buAutoNum type="arabicPeriod"/>
            </a:pPr>
            <a:r>
              <a:rPr lang="en-US" sz="2400" dirty="0"/>
              <a:t>Test with 9 lowercase characters. </a:t>
            </a:r>
          </a:p>
          <a:p>
            <a:pPr marL="514350" indent="-514350">
              <a:buFont typeface="+mj-lt"/>
              <a:buAutoNum type="arabicPeriod"/>
            </a:pPr>
            <a:r>
              <a:rPr lang="en-US" sz="2400" dirty="0"/>
              <a:t>Test with 8 lowercase characters. </a:t>
            </a:r>
          </a:p>
          <a:p>
            <a:pPr marL="514350" indent="-514350">
              <a:buFont typeface="+mj-lt"/>
              <a:buAutoNum type="arabicPeriod"/>
            </a:pPr>
            <a:r>
              <a:rPr lang="en-US" sz="2400" dirty="0"/>
              <a:t>Test with null (empty) entry.</a:t>
            </a:r>
          </a:p>
          <a:p>
            <a:pPr marL="514350" indent="-514350">
              <a:buFont typeface="+mj-lt"/>
              <a:buAutoNum type="arabicPeriod"/>
            </a:pPr>
            <a:r>
              <a:rPr lang="en-US" sz="2400" dirty="0"/>
              <a:t>Test with 7 uppercase characters. </a:t>
            </a:r>
          </a:p>
          <a:p>
            <a:pPr marL="514350" indent="-514350">
              <a:buFont typeface="+mj-lt"/>
              <a:buAutoNum type="arabicPeriod"/>
            </a:pPr>
            <a:r>
              <a:rPr lang="en-US" sz="2400" dirty="0"/>
              <a:t>Test with 9 uppercase characters. </a:t>
            </a:r>
          </a:p>
          <a:p>
            <a:pPr marL="514350" indent="-514350">
              <a:buFont typeface="+mj-lt"/>
              <a:buAutoNum type="arabicPeriod"/>
            </a:pPr>
            <a:r>
              <a:rPr lang="en-US" sz="2400" dirty="0"/>
              <a:t>Test with 8 uppercase characters.</a:t>
            </a:r>
          </a:p>
        </p:txBody>
      </p:sp>
    </p:spTree>
    <p:extLst>
      <p:ext uri="{BB962C8B-B14F-4D97-AF65-F5344CB8AC3E}">
        <p14:creationId xmlns:p14="http://schemas.microsoft.com/office/powerpoint/2010/main" val="16256128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A7706-01AC-0C93-B2CC-5CCF89E448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DA9A9F-1EEA-D3D7-5B90-D01FC90D69D6}"/>
              </a:ext>
            </a:extLst>
          </p:cNvPr>
          <p:cNvSpPr>
            <a:spLocks noGrp="1"/>
          </p:cNvSpPr>
          <p:nvPr>
            <p:ph type="title"/>
          </p:nvPr>
        </p:nvSpPr>
        <p:spPr>
          <a:xfrm>
            <a:off x="838200" y="525589"/>
            <a:ext cx="10515600" cy="1325563"/>
          </a:xfrm>
        </p:spPr>
        <p:txBody>
          <a:bodyPr/>
          <a:lstStyle/>
          <a:p>
            <a:r>
              <a:rPr lang="en-US" dirty="0"/>
              <a:t>Password Test Cases</a:t>
            </a:r>
          </a:p>
        </p:txBody>
      </p:sp>
      <p:sp>
        <p:nvSpPr>
          <p:cNvPr id="3" name="Content Placeholder 2">
            <a:extLst>
              <a:ext uri="{FF2B5EF4-FFF2-40B4-BE49-F238E27FC236}">
                <a16:creationId xmlns:a16="http://schemas.microsoft.com/office/drawing/2014/main" id="{3BDFA41C-8145-BDEF-9BC1-F3A1E92A25D8}"/>
              </a:ext>
            </a:extLst>
          </p:cNvPr>
          <p:cNvSpPr>
            <a:spLocks noGrp="1"/>
          </p:cNvSpPr>
          <p:nvPr>
            <p:ph idx="1"/>
          </p:nvPr>
        </p:nvSpPr>
        <p:spPr>
          <a:xfrm>
            <a:off x="992124" y="1981073"/>
            <a:ext cx="10207752" cy="4351338"/>
          </a:xfrm>
        </p:spPr>
        <p:txBody>
          <a:bodyPr>
            <a:normAutofit/>
          </a:bodyPr>
          <a:lstStyle/>
          <a:p>
            <a:pPr marL="514350" indent="-514350">
              <a:buFont typeface="+mj-lt"/>
              <a:buAutoNum type="arabicPeriod"/>
            </a:pPr>
            <a:r>
              <a:rPr lang="en-US" sz="2400" dirty="0"/>
              <a:t>Test with 11 characters. </a:t>
            </a:r>
          </a:p>
          <a:p>
            <a:pPr marL="514350" indent="-514350">
              <a:buFont typeface="+mj-lt"/>
              <a:buAutoNum type="arabicPeriod"/>
            </a:pPr>
            <a:r>
              <a:rPr lang="en-US" sz="2400" dirty="0"/>
              <a:t>Test with 13 characters. </a:t>
            </a:r>
          </a:p>
          <a:p>
            <a:pPr marL="514350" indent="-514350">
              <a:buFont typeface="+mj-lt"/>
              <a:buAutoNum type="arabicPeriod"/>
            </a:pPr>
            <a:r>
              <a:rPr lang="en-US" sz="2400" dirty="0"/>
              <a:t>Test with 12 characters. </a:t>
            </a:r>
          </a:p>
          <a:p>
            <a:pPr marL="514350" indent="-514350">
              <a:buFont typeface="+mj-lt"/>
              <a:buAutoNum type="arabicPeriod"/>
            </a:pPr>
            <a:r>
              <a:rPr lang="en-US" sz="2400" dirty="0"/>
              <a:t>Test with null (empty) entry.</a:t>
            </a:r>
          </a:p>
          <a:p>
            <a:pPr marL="514350" indent="-514350">
              <a:buFont typeface="+mj-lt"/>
              <a:buAutoNum type="arabicPeriod"/>
            </a:pPr>
            <a:r>
              <a:rPr lang="en-US" sz="2400" dirty="0"/>
              <a:t>Test with no uppercase characters. </a:t>
            </a:r>
          </a:p>
          <a:p>
            <a:pPr marL="514350" indent="-514350">
              <a:buFont typeface="+mj-lt"/>
              <a:buAutoNum type="arabicPeriod"/>
            </a:pPr>
            <a:r>
              <a:rPr lang="en-US" sz="2400" dirty="0"/>
              <a:t>Test with no lowercase characters. </a:t>
            </a:r>
          </a:p>
          <a:p>
            <a:pPr marL="514350" indent="-514350">
              <a:buFont typeface="+mj-lt"/>
              <a:buAutoNum type="arabicPeriod"/>
            </a:pPr>
            <a:r>
              <a:rPr lang="en-US" sz="2400" dirty="0"/>
              <a:t>Test with no numeric characters.</a:t>
            </a:r>
          </a:p>
          <a:p>
            <a:pPr marL="514350" indent="-514350">
              <a:buFont typeface="+mj-lt"/>
              <a:buAutoNum type="arabicPeriod"/>
            </a:pPr>
            <a:r>
              <a:rPr lang="en-US" sz="2400" dirty="0"/>
              <a:t>Test with no special characters.</a:t>
            </a:r>
          </a:p>
          <a:p>
            <a:pPr marL="514350" indent="-514350">
              <a:buFont typeface="+mj-lt"/>
              <a:buAutoNum type="arabicPeriod"/>
            </a:pPr>
            <a:endParaRPr lang="en-US" sz="2400" dirty="0"/>
          </a:p>
        </p:txBody>
      </p:sp>
    </p:spTree>
    <p:extLst>
      <p:ext uri="{BB962C8B-B14F-4D97-AF65-F5344CB8AC3E}">
        <p14:creationId xmlns:p14="http://schemas.microsoft.com/office/powerpoint/2010/main" val="477233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42ACF-F506-F173-ABE7-20710812E2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ACE793-B63A-C9CF-75A6-4938A121FE74}"/>
              </a:ext>
            </a:extLst>
          </p:cNvPr>
          <p:cNvSpPr>
            <a:spLocks noGrp="1"/>
          </p:cNvSpPr>
          <p:nvPr>
            <p:ph type="title"/>
          </p:nvPr>
        </p:nvSpPr>
        <p:spPr/>
        <p:txBody>
          <a:bodyPr/>
          <a:lstStyle/>
          <a:p>
            <a:r>
              <a:rPr lang="en-US" dirty="0"/>
              <a:t>Account Types</a:t>
            </a:r>
          </a:p>
        </p:txBody>
      </p:sp>
      <p:sp>
        <p:nvSpPr>
          <p:cNvPr id="3" name="Content Placeholder 2">
            <a:extLst>
              <a:ext uri="{FF2B5EF4-FFF2-40B4-BE49-F238E27FC236}">
                <a16:creationId xmlns:a16="http://schemas.microsoft.com/office/drawing/2014/main" id="{068D6B08-610A-C227-1E0C-E11F1ED99C82}"/>
              </a:ext>
            </a:extLst>
          </p:cNvPr>
          <p:cNvSpPr>
            <a:spLocks noGrp="1"/>
          </p:cNvSpPr>
          <p:nvPr>
            <p:ph idx="1"/>
          </p:nvPr>
        </p:nvSpPr>
        <p:spPr/>
        <p:txBody>
          <a:bodyPr/>
          <a:lstStyle/>
          <a:p>
            <a:r>
              <a:rPr lang="en-US" dirty="0"/>
              <a:t>There will be three types of accounts: student, faculty, and admin. A student account will be able to add up to two majors and two minors for schedule generation, approve generated proposed schedules, and enter the number of semesters they would like to graduate in. A faculty account will be able to approve a student’s majors/minors and approve proposed schedules. An admin account can create accounts for students and faculty, and assign/remove students to/from faculty.</a:t>
            </a:r>
          </a:p>
        </p:txBody>
      </p:sp>
    </p:spTree>
    <p:extLst>
      <p:ext uri="{BB962C8B-B14F-4D97-AF65-F5344CB8AC3E}">
        <p14:creationId xmlns:p14="http://schemas.microsoft.com/office/powerpoint/2010/main" val="13209374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683DB-FBAB-14E5-3293-4038A86132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360711-AC52-BF75-F1F3-233A282CA323}"/>
              </a:ext>
            </a:extLst>
          </p:cNvPr>
          <p:cNvSpPr>
            <a:spLocks noGrp="1"/>
          </p:cNvSpPr>
          <p:nvPr>
            <p:ph type="title"/>
          </p:nvPr>
        </p:nvSpPr>
        <p:spPr/>
        <p:txBody>
          <a:bodyPr/>
          <a:lstStyle/>
          <a:p>
            <a:r>
              <a:rPr lang="en-US" dirty="0"/>
              <a:t>Account Types</a:t>
            </a:r>
          </a:p>
        </p:txBody>
      </p:sp>
      <p:sp>
        <p:nvSpPr>
          <p:cNvPr id="3" name="Content Placeholder 2">
            <a:extLst>
              <a:ext uri="{FF2B5EF4-FFF2-40B4-BE49-F238E27FC236}">
                <a16:creationId xmlns:a16="http://schemas.microsoft.com/office/drawing/2014/main" id="{6C6DF9FF-71F2-5DAB-94C1-1B9FD65EAFE2}"/>
              </a:ext>
            </a:extLst>
          </p:cNvPr>
          <p:cNvSpPr>
            <a:spLocks noGrp="1"/>
          </p:cNvSpPr>
          <p:nvPr>
            <p:ph idx="1"/>
          </p:nvPr>
        </p:nvSpPr>
        <p:spPr/>
        <p:txBody>
          <a:bodyPr/>
          <a:lstStyle/>
          <a:p>
            <a:r>
              <a:rPr lang="en-US" dirty="0"/>
              <a:t>Priority: 10</a:t>
            </a:r>
          </a:p>
          <a:p>
            <a:r>
              <a:rPr lang="en-US" dirty="0"/>
              <a:t>Volatility: 8</a:t>
            </a:r>
          </a:p>
          <a:p>
            <a:r>
              <a:rPr lang="en-US" dirty="0"/>
              <a:t>Functional or Non-functional: F</a:t>
            </a:r>
          </a:p>
          <a:p>
            <a:r>
              <a:rPr lang="en-US" dirty="0"/>
              <a:t>Standalone or Dependent: D as it depends on a functional database, course catalog, and scheduling algorithm</a:t>
            </a:r>
          </a:p>
          <a:p>
            <a:r>
              <a:rPr lang="en-US" dirty="0"/>
              <a:t>T: 3-week</a:t>
            </a:r>
          </a:p>
          <a:p>
            <a:r>
              <a:rPr lang="en-US" dirty="0"/>
              <a:t>Developer: Luke</a:t>
            </a:r>
          </a:p>
          <a:p>
            <a:r>
              <a:rPr lang="en-US" dirty="0"/>
              <a:t>Tester: Shane</a:t>
            </a:r>
          </a:p>
        </p:txBody>
      </p:sp>
    </p:spTree>
    <p:extLst>
      <p:ext uri="{BB962C8B-B14F-4D97-AF65-F5344CB8AC3E}">
        <p14:creationId xmlns:p14="http://schemas.microsoft.com/office/powerpoint/2010/main" val="31166232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4E7A0-0EBC-9039-7E08-4BCB0A3A47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DD9ABB-F002-02BD-A313-DB43A1BC0379}"/>
              </a:ext>
            </a:extLst>
          </p:cNvPr>
          <p:cNvSpPr>
            <a:spLocks noGrp="1"/>
          </p:cNvSpPr>
          <p:nvPr>
            <p:ph type="title"/>
          </p:nvPr>
        </p:nvSpPr>
        <p:spPr/>
        <p:txBody>
          <a:bodyPr/>
          <a:lstStyle/>
          <a:p>
            <a:r>
              <a:rPr lang="en-US" dirty="0"/>
              <a:t>Student Account Test Cases</a:t>
            </a:r>
          </a:p>
        </p:txBody>
      </p:sp>
      <p:sp>
        <p:nvSpPr>
          <p:cNvPr id="3" name="Content Placeholder 2">
            <a:extLst>
              <a:ext uri="{FF2B5EF4-FFF2-40B4-BE49-F238E27FC236}">
                <a16:creationId xmlns:a16="http://schemas.microsoft.com/office/drawing/2014/main" id="{369B1A2A-C73E-210B-445C-42DE61E84B13}"/>
              </a:ext>
            </a:extLst>
          </p:cNvPr>
          <p:cNvSpPr>
            <a:spLocks noGrp="1"/>
          </p:cNvSpPr>
          <p:nvPr>
            <p:ph idx="1"/>
          </p:nvPr>
        </p:nvSpPr>
        <p:spPr>
          <a:xfrm>
            <a:off x="838199" y="1690688"/>
            <a:ext cx="10515599" cy="4351338"/>
          </a:xfrm>
        </p:spPr>
        <p:txBody>
          <a:bodyPr>
            <a:normAutofit/>
          </a:bodyPr>
          <a:lstStyle/>
          <a:p>
            <a:pPr marL="514350" indent="-514350">
              <a:buFont typeface="+mj-lt"/>
              <a:buAutoNum type="arabicPeriod"/>
            </a:pPr>
            <a:r>
              <a:rPr lang="en-US" sz="2400" dirty="0"/>
              <a:t>Test by adding all possible combinations of ‘n’ majors and ‘m’ minors.</a:t>
            </a:r>
          </a:p>
          <a:p>
            <a:pPr marL="514350" indent="-514350">
              <a:buFont typeface="+mj-lt"/>
              <a:buAutoNum type="arabicPeriod"/>
            </a:pPr>
            <a:r>
              <a:rPr lang="en-US" sz="2400" dirty="0"/>
              <a:t>Approve a proposed schedule.</a:t>
            </a:r>
          </a:p>
          <a:p>
            <a:pPr marL="514350" indent="-514350">
              <a:buFont typeface="+mj-lt"/>
              <a:buAutoNum type="arabicPeriod"/>
            </a:pPr>
            <a:r>
              <a:rPr lang="en-US" sz="2400" dirty="0"/>
              <a:t>Reject a proposed schedule. </a:t>
            </a:r>
          </a:p>
          <a:p>
            <a:pPr marL="514350" indent="-514350">
              <a:buFont typeface="+mj-lt"/>
              <a:buAutoNum type="arabicPeriod"/>
            </a:pPr>
            <a:r>
              <a:rPr lang="en-US" sz="2400" dirty="0"/>
              <a:t>Test with 0 for number of semesters to graduate in.</a:t>
            </a:r>
          </a:p>
          <a:p>
            <a:pPr marL="514350" indent="-514350">
              <a:buFont typeface="+mj-lt"/>
              <a:buAutoNum type="arabicPeriod"/>
            </a:pPr>
            <a:r>
              <a:rPr lang="en-US" sz="2400" dirty="0"/>
              <a:t>Test with 1 for number of semesters to graduate in.</a:t>
            </a:r>
          </a:p>
          <a:p>
            <a:pPr marL="514350" indent="-514350">
              <a:buFont typeface="+mj-lt"/>
              <a:buAutoNum type="arabicPeriod"/>
            </a:pPr>
            <a:r>
              <a:rPr lang="en-US" sz="2400" dirty="0"/>
              <a:t>Test with 24 for number of semesters to graduate in (assumes worst case of 8 semesters per major and 4 per minor).</a:t>
            </a:r>
          </a:p>
          <a:p>
            <a:pPr marL="514350" indent="-514350">
              <a:buFont typeface="+mj-lt"/>
              <a:buAutoNum type="arabicPeriod"/>
            </a:pPr>
            <a:r>
              <a:rPr lang="en-US" sz="2400" dirty="0"/>
              <a:t>Test with non-numeric input for number of semesters to graduate in.</a:t>
            </a:r>
          </a:p>
          <a:p>
            <a:pPr marL="514350" indent="-514350">
              <a:buFont typeface="+mj-lt"/>
              <a:buAutoNum type="arabicPeriod"/>
            </a:pPr>
            <a:endParaRPr lang="en-US" sz="2400" dirty="0"/>
          </a:p>
          <a:p>
            <a:pPr marL="0" indent="0">
              <a:buNone/>
            </a:pPr>
            <a:endParaRPr lang="en-US" sz="2400" dirty="0"/>
          </a:p>
          <a:p>
            <a:pPr marL="514350" indent="-514350">
              <a:buFont typeface="+mj-lt"/>
              <a:buAutoNum type="arabicPeriod"/>
            </a:pPr>
            <a:endParaRPr lang="en-US" sz="2400" dirty="0"/>
          </a:p>
          <a:p>
            <a:pPr marL="514350" indent="-514350">
              <a:buFont typeface="+mj-lt"/>
              <a:buAutoNum type="arabicPeriod"/>
            </a:pPr>
            <a:endParaRPr lang="en-US" sz="2400" dirty="0"/>
          </a:p>
          <a:p>
            <a:pPr marL="514350" indent="-514350">
              <a:buFont typeface="+mj-lt"/>
              <a:buAutoNum type="arabicPeriod"/>
            </a:pPr>
            <a:endParaRPr lang="en-US" sz="2400" dirty="0"/>
          </a:p>
          <a:p>
            <a:pPr marL="514350" indent="-514350">
              <a:buFont typeface="+mj-lt"/>
              <a:buAutoNum type="arabicPeriod"/>
            </a:pPr>
            <a:endParaRPr lang="en-US" sz="2400" dirty="0"/>
          </a:p>
          <a:p>
            <a:pPr marL="0" indent="0">
              <a:buNone/>
            </a:pPr>
            <a:endParaRPr lang="en-US" sz="2400" dirty="0"/>
          </a:p>
          <a:p>
            <a:pPr marL="514350" indent="-514350">
              <a:buFont typeface="+mj-lt"/>
              <a:buAutoNum type="arabicPeriod"/>
            </a:pPr>
            <a:endParaRPr lang="en-US" sz="2400" dirty="0"/>
          </a:p>
        </p:txBody>
      </p:sp>
    </p:spTree>
    <p:extLst>
      <p:ext uri="{BB962C8B-B14F-4D97-AF65-F5344CB8AC3E}">
        <p14:creationId xmlns:p14="http://schemas.microsoft.com/office/powerpoint/2010/main" val="29178903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D18EF-6775-0DCE-64FA-147EEBF890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09F6F7-936B-B923-B32B-D40D763912C0}"/>
              </a:ext>
            </a:extLst>
          </p:cNvPr>
          <p:cNvSpPr>
            <a:spLocks noGrp="1"/>
          </p:cNvSpPr>
          <p:nvPr>
            <p:ph type="title"/>
          </p:nvPr>
        </p:nvSpPr>
        <p:spPr/>
        <p:txBody>
          <a:bodyPr/>
          <a:lstStyle/>
          <a:p>
            <a:r>
              <a:rPr lang="en-US" dirty="0"/>
              <a:t>Faculty Account Test Cases</a:t>
            </a:r>
          </a:p>
        </p:txBody>
      </p:sp>
      <p:sp>
        <p:nvSpPr>
          <p:cNvPr id="3" name="Content Placeholder 2">
            <a:extLst>
              <a:ext uri="{FF2B5EF4-FFF2-40B4-BE49-F238E27FC236}">
                <a16:creationId xmlns:a16="http://schemas.microsoft.com/office/drawing/2014/main" id="{BE2DE045-0881-BAAB-5656-ECA07945A0C9}"/>
              </a:ext>
            </a:extLst>
          </p:cNvPr>
          <p:cNvSpPr>
            <a:spLocks noGrp="1"/>
          </p:cNvSpPr>
          <p:nvPr>
            <p:ph idx="1"/>
          </p:nvPr>
        </p:nvSpPr>
        <p:spPr>
          <a:xfrm>
            <a:off x="838200" y="1690688"/>
            <a:ext cx="6412992" cy="4351338"/>
          </a:xfrm>
        </p:spPr>
        <p:txBody>
          <a:bodyPr>
            <a:normAutofit/>
          </a:bodyPr>
          <a:lstStyle/>
          <a:p>
            <a:pPr marL="514350" indent="-514350">
              <a:buFont typeface="+mj-lt"/>
              <a:buAutoNum type="arabicPeriod"/>
            </a:pPr>
            <a:r>
              <a:rPr lang="en-US" sz="2400" dirty="0"/>
              <a:t>Approve a student’s majors/minors.</a:t>
            </a:r>
          </a:p>
          <a:p>
            <a:pPr marL="514350" indent="-514350">
              <a:buFont typeface="+mj-lt"/>
              <a:buAutoNum type="arabicPeriod"/>
            </a:pPr>
            <a:r>
              <a:rPr lang="en-US" sz="2400" dirty="0"/>
              <a:t>Reject a student’s majors/minors.</a:t>
            </a:r>
          </a:p>
          <a:p>
            <a:pPr marL="514350" indent="-514350">
              <a:buFont typeface="+mj-lt"/>
              <a:buAutoNum type="arabicPeriod"/>
            </a:pPr>
            <a:r>
              <a:rPr lang="en-US" sz="2400" dirty="0"/>
              <a:t>Approve a student’s proposed schedule.</a:t>
            </a:r>
          </a:p>
          <a:p>
            <a:pPr marL="514350" indent="-514350">
              <a:buFont typeface="+mj-lt"/>
              <a:buAutoNum type="arabicPeriod"/>
            </a:pPr>
            <a:r>
              <a:rPr lang="en-US" sz="2400" dirty="0"/>
              <a:t>Reject a student’s proposed schedule.</a:t>
            </a:r>
          </a:p>
          <a:p>
            <a:pPr marL="514350" indent="-514350">
              <a:buFont typeface="+mj-lt"/>
              <a:buAutoNum type="arabicPeriod"/>
            </a:pPr>
            <a:endParaRPr lang="en-US" sz="2400" dirty="0"/>
          </a:p>
          <a:p>
            <a:pPr marL="514350" indent="-514350">
              <a:buFont typeface="+mj-lt"/>
              <a:buAutoNum type="arabicPeriod"/>
            </a:pPr>
            <a:endParaRPr lang="en-US" sz="2400" dirty="0"/>
          </a:p>
          <a:p>
            <a:pPr marL="514350" indent="-514350">
              <a:buFont typeface="+mj-lt"/>
              <a:buAutoNum type="arabicPeriod"/>
            </a:pPr>
            <a:endParaRPr lang="en-US" sz="2400" dirty="0"/>
          </a:p>
          <a:p>
            <a:pPr marL="0" indent="0">
              <a:buNone/>
            </a:pPr>
            <a:endParaRPr lang="en-US" sz="2400" dirty="0"/>
          </a:p>
          <a:p>
            <a:pPr marL="514350" indent="-514350">
              <a:buFont typeface="+mj-lt"/>
              <a:buAutoNum type="arabicPeriod"/>
            </a:pPr>
            <a:endParaRPr lang="en-US" sz="2400" dirty="0"/>
          </a:p>
        </p:txBody>
      </p:sp>
    </p:spTree>
    <p:extLst>
      <p:ext uri="{BB962C8B-B14F-4D97-AF65-F5344CB8AC3E}">
        <p14:creationId xmlns:p14="http://schemas.microsoft.com/office/powerpoint/2010/main" val="235563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45A93-5FDC-CE08-3758-FBBB65BF1E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8ABA52-8B71-10B1-EEF5-7EDE4CDBA5DF}"/>
              </a:ext>
            </a:extLst>
          </p:cNvPr>
          <p:cNvSpPr>
            <a:spLocks noGrp="1"/>
          </p:cNvSpPr>
          <p:nvPr>
            <p:ph type="title"/>
          </p:nvPr>
        </p:nvSpPr>
        <p:spPr/>
        <p:txBody>
          <a:bodyPr/>
          <a:lstStyle/>
          <a:p>
            <a:r>
              <a:rPr lang="en-US" dirty="0"/>
              <a:t>Admin Account Test Cases</a:t>
            </a:r>
          </a:p>
        </p:txBody>
      </p:sp>
      <p:sp>
        <p:nvSpPr>
          <p:cNvPr id="3" name="Content Placeholder 2">
            <a:extLst>
              <a:ext uri="{FF2B5EF4-FFF2-40B4-BE49-F238E27FC236}">
                <a16:creationId xmlns:a16="http://schemas.microsoft.com/office/drawing/2014/main" id="{691B3EEA-5DC1-8977-359A-33308D32F85A}"/>
              </a:ext>
            </a:extLst>
          </p:cNvPr>
          <p:cNvSpPr>
            <a:spLocks noGrp="1"/>
          </p:cNvSpPr>
          <p:nvPr>
            <p:ph idx="1"/>
          </p:nvPr>
        </p:nvSpPr>
        <p:spPr>
          <a:xfrm>
            <a:off x="838200" y="1690688"/>
            <a:ext cx="6412992" cy="4351338"/>
          </a:xfrm>
        </p:spPr>
        <p:txBody>
          <a:bodyPr>
            <a:normAutofit/>
          </a:bodyPr>
          <a:lstStyle/>
          <a:p>
            <a:pPr marL="514350" indent="-514350">
              <a:buFont typeface="+mj-lt"/>
              <a:buAutoNum type="arabicPeriod"/>
            </a:pPr>
            <a:r>
              <a:rPr lang="en-US" sz="2400" dirty="0"/>
              <a:t>Create a student account.</a:t>
            </a:r>
          </a:p>
          <a:p>
            <a:pPr marL="514350" indent="-514350">
              <a:buFont typeface="+mj-lt"/>
              <a:buAutoNum type="arabicPeriod"/>
            </a:pPr>
            <a:r>
              <a:rPr lang="en-US" sz="2400" dirty="0"/>
              <a:t>Create a faculty account.</a:t>
            </a:r>
          </a:p>
          <a:p>
            <a:pPr marL="514350" indent="-514350">
              <a:buFont typeface="+mj-lt"/>
              <a:buAutoNum type="arabicPeriod"/>
            </a:pPr>
            <a:r>
              <a:rPr lang="en-US" sz="2400" dirty="0"/>
              <a:t>Assign a student to a faculty member.</a:t>
            </a:r>
          </a:p>
          <a:p>
            <a:pPr marL="514350" indent="-514350">
              <a:buFont typeface="+mj-lt"/>
              <a:buAutoNum type="arabicPeriod"/>
            </a:pPr>
            <a:r>
              <a:rPr lang="en-US" sz="2400" dirty="0"/>
              <a:t>Remove a student from a faculty member.</a:t>
            </a:r>
          </a:p>
          <a:p>
            <a:pPr marL="0" indent="0">
              <a:buNone/>
            </a:pPr>
            <a:endParaRPr lang="en-US" sz="2400" dirty="0"/>
          </a:p>
          <a:p>
            <a:pPr marL="514350" indent="-514350">
              <a:buFont typeface="+mj-lt"/>
              <a:buAutoNum type="arabicPeriod"/>
            </a:pPr>
            <a:endParaRPr lang="en-US" sz="2400" dirty="0"/>
          </a:p>
          <a:p>
            <a:pPr marL="514350" indent="-514350">
              <a:buFont typeface="+mj-lt"/>
              <a:buAutoNum type="arabicPeriod"/>
            </a:pPr>
            <a:endParaRPr lang="en-US" sz="2400" dirty="0"/>
          </a:p>
          <a:p>
            <a:pPr marL="0" indent="0">
              <a:buNone/>
            </a:pPr>
            <a:endParaRPr lang="en-US" sz="2400" dirty="0"/>
          </a:p>
          <a:p>
            <a:pPr marL="514350" indent="-514350">
              <a:buFont typeface="+mj-lt"/>
              <a:buAutoNum type="arabicPeriod"/>
            </a:pPr>
            <a:endParaRPr lang="en-US" sz="2400" dirty="0"/>
          </a:p>
        </p:txBody>
      </p:sp>
    </p:spTree>
    <p:extLst>
      <p:ext uri="{BB962C8B-B14F-4D97-AF65-F5344CB8AC3E}">
        <p14:creationId xmlns:p14="http://schemas.microsoft.com/office/powerpoint/2010/main" val="6371081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368F3-8FD0-AE87-B7A2-05C6E60801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02434B-AC06-A3D2-E962-DC8C3F5898A3}"/>
              </a:ext>
            </a:extLst>
          </p:cNvPr>
          <p:cNvSpPr>
            <a:spLocks noGrp="1"/>
          </p:cNvSpPr>
          <p:nvPr>
            <p:ph type="title"/>
          </p:nvPr>
        </p:nvSpPr>
        <p:spPr/>
        <p:txBody>
          <a:bodyPr/>
          <a:lstStyle/>
          <a:p>
            <a:r>
              <a:rPr lang="en-US" dirty="0"/>
              <a:t>Scheduling Algorithm</a:t>
            </a:r>
          </a:p>
        </p:txBody>
      </p:sp>
      <p:sp>
        <p:nvSpPr>
          <p:cNvPr id="3" name="Content Placeholder 2">
            <a:extLst>
              <a:ext uri="{FF2B5EF4-FFF2-40B4-BE49-F238E27FC236}">
                <a16:creationId xmlns:a16="http://schemas.microsoft.com/office/drawing/2014/main" id="{A50F5C50-23DD-4660-1EB9-ACF39AE90EBC}"/>
              </a:ext>
            </a:extLst>
          </p:cNvPr>
          <p:cNvSpPr>
            <a:spLocks noGrp="1"/>
          </p:cNvSpPr>
          <p:nvPr>
            <p:ph idx="1"/>
          </p:nvPr>
        </p:nvSpPr>
        <p:spPr/>
        <p:txBody>
          <a:bodyPr/>
          <a:lstStyle/>
          <a:p>
            <a:r>
              <a:rPr lang="en-US" dirty="0"/>
              <a:t>The program will contain an algorithm that generates schedules for a student depending on the number of semesters the student wants to graduate in. If a schedule is not feasible for the given time frame, the algorithm will create an alternate timeline for graduation. The given schedule will be broken into fall and spring semesters and satisfy all course pre- and co-requisite restrictions.</a:t>
            </a:r>
          </a:p>
          <a:p>
            <a:endParaRPr lang="en-US" dirty="0"/>
          </a:p>
        </p:txBody>
      </p:sp>
    </p:spTree>
    <p:extLst>
      <p:ext uri="{BB962C8B-B14F-4D97-AF65-F5344CB8AC3E}">
        <p14:creationId xmlns:p14="http://schemas.microsoft.com/office/powerpoint/2010/main" val="29987774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86FE0-ED66-6F60-06A1-4F60D38D22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52377F-606D-5B4D-C783-09B17E9AA0B6}"/>
              </a:ext>
            </a:extLst>
          </p:cNvPr>
          <p:cNvSpPr>
            <a:spLocks noGrp="1"/>
          </p:cNvSpPr>
          <p:nvPr>
            <p:ph type="title"/>
          </p:nvPr>
        </p:nvSpPr>
        <p:spPr/>
        <p:txBody>
          <a:bodyPr/>
          <a:lstStyle/>
          <a:p>
            <a:r>
              <a:rPr lang="en-US" dirty="0"/>
              <a:t>Scheduling Algorithm</a:t>
            </a:r>
          </a:p>
        </p:txBody>
      </p:sp>
      <p:sp>
        <p:nvSpPr>
          <p:cNvPr id="3" name="Content Placeholder 2">
            <a:extLst>
              <a:ext uri="{FF2B5EF4-FFF2-40B4-BE49-F238E27FC236}">
                <a16:creationId xmlns:a16="http://schemas.microsoft.com/office/drawing/2014/main" id="{1BF4FD74-DA53-4B85-AF68-BB63CEAC9EF3}"/>
              </a:ext>
            </a:extLst>
          </p:cNvPr>
          <p:cNvSpPr>
            <a:spLocks noGrp="1"/>
          </p:cNvSpPr>
          <p:nvPr>
            <p:ph idx="1"/>
          </p:nvPr>
        </p:nvSpPr>
        <p:spPr/>
        <p:txBody>
          <a:bodyPr/>
          <a:lstStyle/>
          <a:p>
            <a:r>
              <a:rPr lang="en-US" dirty="0"/>
              <a:t>Priority: 10</a:t>
            </a:r>
          </a:p>
          <a:p>
            <a:r>
              <a:rPr lang="en-US" dirty="0"/>
              <a:t>Volatility: 10</a:t>
            </a:r>
          </a:p>
          <a:p>
            <a:r>
              <a:rPr lang="en-US" dirty="0"/>
              <a:t>Functional or Non-functional: F</a:t>
            </a:r>
          </a:p>
          <a:p>
            <a:r>
              <a:rPr lang="en-US" dirty="0"/>
              <a:t>Standalone or Dependent: D as it depends on working accounts and a course catalog to generate approvable course schedules</a:t>
            </a:r>
          </a:p>
          <a:p>
            <a:r>
              <a:rPr lang="en-US" dirty="0"/>
              <a:t>T: 9-week</a:t>
            </a:r>
          </a:p>
          <a:p>
            <a:r>
              <a:rPr lang="en-US" dirty="0"/>
              <a:t>Developer: Josiah and Shane</a:t>
            </a:r>
          </a:p>
          <a:p>
            <a:r>
              <a:rPr lang="en-US" dirty="0"/>
              <a:t>Tester: Luke</a:t>
            </a:r>
          </a:p>
        </p:txBody>
      </p:sp>
    </p:spTree>
    <p:extLst>
      <p:ext uri="{BB962C8B-B14F-4D97-AF65-F5344CB8AC3E}">
        <p14:creationId xmlns:p14="http://schemas.microsoft.com/office/powerpoint/2010/main" val="19626972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A3263-0D31-53E9-AB01-85EFD84DE4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F43C6E-3910-570B-95F6-F20C69028572}"/>
              </a:ext>
            </a:extLst>
          </p:cNvPr>
          <p:cNvSpPr>
            <a:spLocks noGrp="1"/>
          </p:cNvSpPr>
          <p:nvPr>
            <p:ph type="title"/>
          </p:nvPr>
        </p:nvSpPr>
        <p:spPr/>
        <p:txBody>
          <a:bodyPr/>
          <a:lstStyle/>
          <a:p>
            <a:r>
              <a:rPr lang="en-US" dirty="0"/>
              <a:t>Scheduling Algorithm Test Cases</a:t>
            </a:r>
          </a:p>
        </p:txBody>
      </p:sp>
      <p:sp>
        <p:nvSpPr>
          <p:cNvPr id="3" name="Content Placeholder 2">
            <a:extLst>
              <a:ext uri="{FF2B5EF4-FFF2-40B4-BE49-F238E27FC236}">
                <a16:creationId xmlns:a16="http://schemas.microsoft.com/office/drawing/2014/main" id="{ED7B11F5-2603-C0C6-6729-858739F06B49}"/>
              </a:ext>
            </a:extLst>
          </p:cNvPr>
          <p:cNvSpPr>
            <a:spLocks noGrp="1"/>
          </p:cNvSpPr>
          <p:nvPr>
            <p:ph idx="1"/>
          </p:nvPr>
        </p:nvSpPr>
        <p:spPr>
          <a:xfrm>
            <a:off x="838200" y="1825625"/>
            <a:ext cx="9604248" cy="4351338"/>
          </a:xfrm>
        </p:spPr>
        <p:txBody>
          <a:bodyPr>
            <a:normAutofit/>
          </a:bodyPr>
          <a:lstStyle/>
          <a:p>
            <a:pPr marL="514350" indent="-514350">
              <a:buFont typeface="+mj-lt"/>
              <a:buAutoNum type="arabicPeriod"/>
            </a:pPr>
            <a:r>
              <a:rPr lang="en-US" sz="2400" dirty="0"/>
              <a:t>Test schedule generation with all combinations of ‘n’ majors and ‘m’ minors and with student input for number of semesters to graduate in.</a:t>
            </a:r>
          </a:p>
          <a:p>
            <a:pPr marL="514350" indent="-514350">
              <a:buFont typeface="+mj-lt"/>
              <a:buAutoNum type="arabicPeriod"/>
            </a:pPr>
            <a:r>
              <a:rPr lang="en-US" sz="2400" dirty="0"/>
              <a:t>Repeat test 1 without semesters to graduate input.</a:t>
            </a:r>
          </a:p>
          <a:p>
            <a:pPr marL="514350" indent="-514350">
              <a:buFont typeface="+mj-lt"/>
              <a:buAutoNum type="arabicPeriod"/>
            </a:pPr>
            <a:endParaRPr lang="en-US" sz="2400" dirty="0"/>
          </a:p>
          <a:p>
            <a:pPr marL="514350" indent="-514350">
              <a:buFont typeface="+mj-lt"/>
              <a:buAutoNum type="arabicPeriod"/>
            </a:pPr>
            <a:endParaRPr lang="en-US" sz="2400" dirty="0"/>
          </a:p>
          <a:p>
            <a:pPr marL="514350" indent="-514350">
              <a:buFont typeface="+mj-lt"/>
              <a:buAutoNum type="arabicPeriod"/>
            </a:pPr>
            <a:endParaRPr lang="en-US" sz="2400" dirty="0"/>
          </a:p>
          <a:p>
            <a:pPr marL="514350" indent="-514350">
              <a:buFont typeface="+mj-lt"/>
              <a:buAutoNum type="arabicPeriod"/>
            </a:pPr>
            <a:endParaRPr lang="en-US" sz="2400" dirty="0"/>
          </a:p>
        </p:txBody>
      </p:sp>
    </p:spTree>
    <p:extLst>
      <p:ext uri="{BB962C8B-B14F-4D97-AF65-F5344CB8AC3E}">
        <p14:creationId xmlns:p14="http://schemas.microsoft.com/office/powerpoint/2010/main" val="31629931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FECC1-1E3C-4716-D2F3-33ED700939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B47AB2-05E3-90C8-A447-1D6AA0CD8339}"/>
              </a:ext>
            </a:extLst>
          </p:cNvPr>
          <p:cNvSpPr>
            <a:spLocks noGrp="1"/>
          </p:cNvSpPr>
          <p:nvPr>
            <p:ph type="title"/>
          </p:nvPr>
        </p:nvSpPr>
        <p:spPr/>
        <p:txBody>
          <a:bodyPr/>
          <a:lstStyle/>
          <a:p>
            <a:r>
              <a:rPr lang="en-US" dirty="0"/>
              <a:t>Schedule Display</a:t>
            </a:r>
          </a:p>
        </p:txBody>
      </p:sp>
      <p:sp>
        <p:nvSpPr>
          <p:cNvPr id="3" name="Content Placeholder 2">
            <a:extLst>
              <a:ext uri="{FF2B5EF4-FFF2-40B4-BE49-F238E27FC236}">
                <a16:creationId xmlns:a16="http://schemas.microsoft.com/office/drawing/2014/main" id="{585ED4A6-F12C-CEE3-58A8-B58841724BDE}"/>
              </a:ext>
            </a:extLst>
          </p:cNvPr>
          <p:cNvSpPr>
            <a:spLocks noGrp="1"/>
          </p:cNvSpPr>
          <p:nvPr>
            <p:ph idx="1"/>
          </p:nvPr>
        </p:nvSpPr>
        <p:spPr/>
        <p:txBody>
          <a:bodyPr/>
          <a:lstStyle/>
          <a:p>
            <a:r>
              <a:rPr lang="en-US" dirty="0"/>
              <a:t>A schedule generated by the scheduling algorithm will be displayed to the user in a calendar fashion. This means that the schedule displays all classes for each semester visually organized by semester.</a:t>
            </a:r>
          </a:p>
        </p:txBody>
      </p:sp>
    </p:spTree>
    <p:extLst>
      <p:ext uri="{BB962C8B-B14F-4D97-AF65-F5344CB8AC3E}">
        <p14:creationId xmlns:p14="http://schemas.microsoft.com/office/powerpoint/2010/main" val="1371911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6AAE1-A8A4-20D3-08DA-59F817BA22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8825F3-46D4-8C1A-CD44-475CB294E52E}"/>
              </a:ext>
            </a:extLst>
          </p:cNvPr>
          <p:cNvSpPr>
            <a:spLocks noGrp="1"/>
          </p:cNvSpPr>
          <p:nvPr>
            <p:ph type="title"/>
          </p:nvPr>
        </p:nvSpPr>
        <p:spPr/>
        <p:txBody>
          <a:bodyPr/>
          <a:lstStyle/>
          <a:p>
            <a:r>
              <a:rPr lang="en-US" dirty="0"/>
              <a:t>Schedule Display</a:t>
            </a:r>
          </a:p>
        </p:txBody>
      </p:sp>
      <p:sp>
        <p:nvSpPr>
          <p:cNvPr id="3" name="Content Placeholder 2">
            <a:extLst>
              <a:ext uri="{FF2B5EF4-FFF2-40B4-BE49-F238E27FC236}">
                <a16:creationId xmlns:a16="http://schemas.microsoft.com/office/drawing/2014/main" id="{8B124B8B-3B2E-1111-E1D1-8DA0ADF10C0E}"/>
              </a:ext>
            </a:extLst>
          </p:cNvPr>
          <p:cNvSpPr>
            <a:spLocks noGrp="1"/>
          </p:cNvSpPr>
          <p:nvPr>
            <p:ph idx="1"/>
          </p:nvPr>
        </p:nvSpPr>
        <p:spPr/>
        <p:txBody>
          <a:bodyPr/>
          <a:lstStyle/>
          <a:p>
            <a:r>
              <a:rPr lang="en-US" dirty="0"/>
              <a:t>Priority: 9</a:t>
            </a:r>
          </a:p>
          <a:p>
            <a:r>
              <a:rPr lang="en-US" dirty="0"/>
              <a:t>Volatility: 3</a:t>
            </a:r>
          </a:p>
          <a:p>
            <a:r>
              <a:rPr lang="en-US" dirty="0"/>
              <a:t>Functional or Non-functional: F</a:t>
            </a:r>
          </a:p>
          <a:p>
            <a:r>
              <a:rPr lang="en-US" dirty="0"/>
              <a:t>Standalone or Dependent: D as it depends on a functional scheduling algorithm to generate the schedules to be displayed</a:t>
            </a:r>
          </a:p>
          <a:p>
            <a:r>
              <a:rPr lang="en-US" dirty="0"/>
              <a:t>T: 2-week</a:t>
            </a:r>
          </a:p>
          <a:p>
            <a:r>
              <a:rPr lang="en-US" dirty="0"/>
              <a:t>Developer: Luke</a:t>
            </a:r>
          </a:p>
          <a:p>
            <a:r>
              <a:rPr lang="en-US" dirty="0"/>
              <a:t>Tester: Josiah</a:t>
            </a:r>
          </a:p>
        </p:txBody>
      </p:sp>
    </p:spTree>
    <p:extLst>
      <p:ext uri="{BB962C8B-B14F-4D97-AF65-F5344CB8AC3E}">
        <p14:creationId xmlns:p14="http://schemas.microsoft.com/office/powerpoint/2010/main" val="15670055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531D1-CB42-1491-D19B-9C10623570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3D9223-EEC2-E9CF-DDBD-271F4BE7FA52}"/>
              </a:ext>
            </a:extLst>
          </p:cNvPr>
          <p:cNvSpPr>
            <a:spLocks noGrp="1"/>
          </p:cNvSpPr>
          <p:nvPr>
            <p:ph type="title"/>
          </p:nvPr>
        </p:nvSpPr>
        <p:spPr/>
        <p:txBody>
          <a:bodyPr/>
          <a:lstStyle/>
          <a:p>
            <a:r>
              <a:rPr lang="en-US" dirty="0"/>
              <a:t>Schedule Display Test Cases</a:t>
            </a:r>
          </a:p>
        </p:txBody>
      </p:sp>
      <p:sp>
        <p:nvSpPr>
          <p:cNvPr id="3" name="Content Placeholder 2">
            <a:extLst>
              <a:ext uri="{FF2B5EF4-FFF2-40B4-BE49-F238E27FC236}">
                <a16:creationId xmlns:a16="http://schemas.microsoft.com/office/drawing/2014/main" id="{B65310BA-C677-1AD5-81A3-8B6277A01011}"/>
              </a:ext>
            </a:extLst>
          </p:cNvPr>
          <p:cNvSpPr>
            <a:spLocks noGrp="1"/>
          </p:cNvSpPr>
          <p:nvPr>
            <p:ph idx="1"/>
          </p:nvPr>
        </p:nvSpPr>
        <p:spPr/>
        <p:txBody>
          <a:bodyPr>
            <a:normAutofit/>
          </a:bodyPr>
          <a:lstStyle/>
          <a:p>
            <a:pPr marL="514350" indent="-514350">
              <a:buFont typeface="+mj-lt"/>
              <a:buAutoNum type="arabicPeriod"/>
            </a:pPr>
            <a:r>
              <a:rPr lang="en-US" sz="2400" dirty="0"/>
              <a:t>Test with successful generation of schedule.</a:t>
            </a:r>
          </a:p>
          <a:p>
            <a:pPr marL="514350" indent="-514350">
              <a:buFont typeface="+mj-lt"/>
              <a:buAutoNum type="arabicPeriod"/>
            </a:pPr>
            <a:r>
              <a:rPr lang="en-US" sz="2400" dirty="0"/>
              <a:t>Test with unsuccessful generation of schedule. </a:t>
            </a:r>
          </a:p>
          <a:p>
            <a:pPr marL="514350" indent="-514350">
              <a:buFont typeface="+mj-lt"/>
              <a:buAutoNum type="arabicPeriod"/>
            </a:pPr>
            <a:r>
              <a:rPr lang="en-US" sz="2400" dirty="0"/>
              <a:t>Test with schedule that meets student’s requested number of semesters.</a:t>
            </a:r>
          </a:p>
          <a:p>
            <a:pPr marL="514350" indent="-514350">
              <a:buFont typeface="+mj-lt"/>
              <a:buAutoNum type="arabicPeriod"/>
            </a:pPr>
            <a:r>
              <a:rPr lang="en-US" sz="2400" dirty="0"/>
              <a:t>Test with schedule that does not meet student’s requested number of semesters.</a:t>
            </a:r>
          </a:p>
          <a:p>
            <a:pPr marL="514350" indent="-514350">
              <a:buFont typeface="+mj-lt"/>
              <a:buAutoNum type="arabicPeriod"/>
            </a:pPr>
            <a:r>
              <a:rPr lang="en-US" sz="2400" dirty="0"/>
              <a:t>Test with schedule that requires 4 semesters (assumed minimum).</a:t>
            </a:r>
          </a:p>
          <a:p>
            <a:pPr marL="514350" indent="-514350">
              <a:buFont typeface="+mj-lt"/>
              <a:buAutoNum type="arabicPeriod"/>
            </a:pPr>
            <a:r>
              <a:rPr lang="en-US" sz="2400" dirty="0"/>
              <a:t>Test with schedule that requires 24 semesters (assumed maximum).</a:t>
            </a:r>
          </a:p>
          <a:p>
            <a:pPr marL="514350" indent="-514350">
              <a:buFont typeface="+mj-lt"/>
              <a:buAutoNum type="arabicPeriod"/>
            </a:pPr>
            <a:r>
              <a:rPr lang="en-US" sz="2400" dirty="0"/>
              <a:t>Test with schedule that has semesters of differing credit hours to check for uniformity/alignment.</a:t>
            </a:r>
          </a:p>
          <a:p>
            <a:pPr marL="514350" indent="-514350">
              <a:buFont typeface="+mj-lt"/>
              <a:buAutoNum type="arabicPeriod"/>
            </a:pPr>
            <a:endParaRPr lang="en-US" sz="2400" dirty="0"/>
          </a:p>
          <a:p>
            <a:pPr marL="514350" indent="-514350">
              <a:buFont typeface="+mj-lt"/>
              <a:buAutoNum type="arabicPeriod"/>
            </a:pPr>
            <a:endParaRPr lang="en-US" sz="2400" dirty="0"/>
          </a:p>
          <a:p>
            <a:pPr marL="514350" indent="-514350">
              <a:buFont typeface="+mj-lt"/>
              <a:buAutoNum type="arabicPeriod"/>
            </a:pPr>
            <a:endParaRPr lang="en-US" sz="2400" dirty="0"/>
          </a:p>
          <a:p>
            <a:pPr marL="514350" indent="-514350">
              <a:buFont typeface="+mj-lt"/>
              <a:buAutoNum type="arabicPeriod"/>
            </a:pPr>
            <a:endParaRPr lang="en-US" sz="2400" dirty="0"/>
          </a:p>
        </p:txBody>
      </p:sp>
    </p:spTree>
    <p:extLst>
      <p:ext uri="{BB962C8B-B14F-4D97-AF65-F5344CB8AC3E}">
        <p14:creationId xmlns:p14="http://schemas.microsoft.com/office/powerpoint/2010/main" val="32057130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684BC-608E-4927-E9DF-10B6A22089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78F296-7F84-A808-0E18-511CDE4C9BCC}"/>
              </a:ext>
            </a:extLst>
          </p:cNvPr>
          <p:cNvSpPr>
            <a:spLocks noGrp="1"/>
          </p:cNvSpPr>
          <p:nvPr>
            <p:ph type="title"/>
          </p:nvPr>
        </p:nvSpPr>
        <p:spPr/>
        <p:txBody>
          <a:bodyPr/>
          <a:lstStyle/>
          <a:p>
            <a:r>
              <a:rPr lang="en-US" dirty="0"/>
              <a:t>Database</a:t>
            </a:r>
          </a:p>
        </p:txBody>
      </p:sp>
      <p:sp>
        <p:nvSpPr>
          <p:cNvPr id="3" name="Content Placeholder 2">
            <a:extLst>
              <a:ext uri="{FF2B5EF4-FFF2-40B4-BE49-F238E27FC236}">
                <a16:creationId xmlns:a16="http://schemas.microsoft.com/office/drawing/2014/main" id="{C584C1AA-4B16-DCB7-20CA-054D372C118F}"/>
              </a:ext>
            </a:extLst>
          </p:cNvPr>
          <p:cNvSpPr>
            <a:spLocks noGrp="1"/>
          </p:cNvSpPr>
          <p:nvPr>
            <p:ph idx="1"/>
          </p:nvPr>
        </p:nvSpPr>
        <p:spPr/>
        <p:txBody>
          <a:bodyPr/>
          <a:lstStyle/>
          <a:p>
            <a:r>
              <a:rPr lang="en-US" dirty="0"/>
              <a:t>A database will exist that contains all usernames and password for all accounts. The database will be used by the login manager to verify the username and password when a user of any type attempts to sign in.</a:t>
            </a:r>
          </a:p>
          <a:p>
            <a:endParaRPr lang="en-US" dirty="0"/>
          </a:p>
        </p:txBody>
      </p:sp>
    </p:spTree>
    <p:extLst>
      <p:ext uri="{BB962C8B-B14F-4D97-AF65-F5344CB8AC3E}">
        <p14:creationId xmlns:p14="http://schemas.microsoft.com/office/powerpoint/2010/main" val="40393226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424E2-26C2-FE1A-33B7-B6D4318B7F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30A8B7-90A2-2340-2123-CB02DE2CF5AB}"/>
              </a:ext>
            </a:extLst>
          </p:cNvPr>
          <p:cNvSpPr>
            <a:spLocks noGrp="1"/>
          </p:cNvSpPr>
          <p:nvPr>
            <p:ph type="title"/>
          </p:nvPr>
        </p:nvSpPr>
        <p:spPr/>
        <p:txBody>
          <a:bodyPr/>
          <a:lstStyle/>
          <a:p>
            <a:r>
              <a:rPr lang="en-US" dirty="0"/>
              <a:t>Database</a:t>
            </a:r>
          </a:p>
        </p:txBody>
      </p:sp>
      <p:sp>
        <p:nvSpPr>
          <p:cNvPr id="3" name="Content Placeholder 2">
            <a:extLst>
              <a:ext uri="{FF2B5EF4-FFF2-40B4-BE49-F238E27FC236}">
                <a16:creationId xmlns:a16="http://schemas.microsoft.com/office/drawing/2014/main" id="{F8252C69-1842-A3D6-78EC-4F7A37C7550C}"/>
              </a:ext>
            </a:extLst>
          </p:cNvPr>
          <p:cNvSpPr>
            <a:spLocks noGrp="1"/>
          </p:cNvSpPr>
          <p:nvPr>
            <p:ph idx="1"/>
          </p:nvPr>
        </p:nvSpPr>
        <p:spPr/>
        <p:txBody>
          <a:bodyPr/>
          <a:lstStyle/>
          <a:p>
            <a:r>
              <a:rPr lang="en-US" dirty="0"/>
              <a:t>Priority: 9</a:t>
            </a:r>
          </a:p>
          <a:p>
            <a:r>
              <a:rPr lang="en-US" dirty="0"/>
              <a:t>Volatility: 2</a:t>
            </a:r>
          </a:p>
          <a:p>
            <a:r>
              <a:rPr lang="en-US" dirty="0"/>
              <a:t>Functional or Non-functional: N</a:t>
            </a:r>
          </a:p>
          <a:p>
            <a:r>
              <a:rPr lang="en-US" dirty="0"/>
              <a:t>Standalone or Dependent: S</a:t>
            </a:r>
          </a:p>
          <a:p>
            <a:r>
              <a:rPr lang="en-US" dirty="0"/>
              <a:t>T: 2-week</a:t>
            </a:r>
          </a:p>
          <a:p>
            <a:r>
              <a:rPr lang="en-US" dirty="0"/>
              <a:t>Developer: Josiah</a:t>
            </a:r>
          </a:p>
          <a:p>
            <a:r>
              <a:rPr lang="en-US" dirty="0"/>
              <a:t>Tester: Shane</a:t>
            </a:r>
          </a:p>
        </p:txBody>
      </p:sp>
    </p:spTree>
    <p:extLst>
      <p:ext uri="{BB962C8B-B14F-4D97-AF65-F5344CB8AC3E}">
        <p14:creationId xmlns:p14="http://schemas.microsoft.com/office/powerpoint/2010/main" val="17630293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14321-24B7-CC5D-77A6-1990E0569A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28FA88-80EC-EF1E-45E9-0F5C1B7C3C56}"/>
              </a:ext>
            </a:extLst>
          </p:cNvPr>
          <p:cNvSpPr>
            <a:spLocks noGrp="1"/>
          </p:cNvSpPr>
          <p:nvPr>
            <p:ph type="title"/>
          </p:nvPr>
        </p:nvSpPr>
        <p:spPr/>
        <p:txBody>
          <a:bodyPr/>
          <a:lstStyle/>
          <a:p>
            <a:r>
              <a:rPr lang="en-US" dirty="0"/>
              <a:t>Database Verification Test Cases</a:t>
            </a:r>
          </a:p>
        </p:txBody>
      </p:sp>
      <p:sp>
        <p:nvSpPr>
          <p:cNvPr id="3" name="Content Placeholder 2">
            <a:extLst>
              <a:ext uri="{FF2B5EF4-FFF2-40B4-BE49-F238E27FC236}">
                <a16:creationId xmlns:a16="http://schemas.microsoft.com/office/drawing/2014/main" id="{83860B98-D3E9-15D2-D43D-8C2D6013FB13}"/>
              </a:ext>
            </a:extLst>
          </p:cNvPr>
          <p:cNvSpPr>
            <a:spLocks noGrp="1"/>
          </p:cNvSpPr>
          <p:nvPr>
            <p:ph idx="1"/>
          </p:nvPr>
        </p:nvSpPr>
        <p:spPr/>
        <p:txBody>
          <a:bodyPr>
            <a:normAutofit/>
          </a:bodyPr>
          <a:lstStyle/>
          <a:p>
            <a:pPr marL="514350" indent="-514350">
              <a:buFont typeface="+mj-lt"/>
              <a:buAutoNum type="arabicPeriod"/>
            </a:pPr>
            <a:r>
              <a:rPr lang="en-US" sz="2400" dirty="0"/>
              <a:t>Test with correct username and correct password.</a:t>
            </a:r>
          </a:p>
          <a:p>
            <a:pPr marL="514350" indent="-514350">
              <a:buFont typeface="+mj-lt"/>
              <a:buAutoNum type="arabicPeriod"/>
            </a:pPr>
            <a:r>
              <a:rPr lang="en-US" sz="2400" dirty="0"/>
              <a:t>Test with correct username and incorrect password.</a:t>
            </a:r>
          </a:p>
          <a:p>
            <a:pPr marL="514350" indent="-514350">
              <a:buFont typeface="+mj-lt"/>
              <a:buAutoNum type="arabicPeriod"/>
            </a:pPr>
            <a:r>
              <a:rPr lang="en-US" sz="2400" dirty="0"/>
              <a:t>Test with incorrect username and incorrect password.</a:t>
            </a:r>
          </a:p>
          <a:p>
            <a:pPr marL="0" indent="0">
              <a:buNone/>
            </a:pPr>
            <a:endParaRPr lang="en-US" sz="2400" dirty="0"/>
          </a:p>
        </p:txBody>
      </p:sp>
    </p:spTree>
    <p:extLst>
      <p:ext uri="{BB962C8B-B14F-4D97-AF65-F5344CB8AC3E}">
        <p14:creationId xmlns:p14="http://schemas.microsoft.com/office/powerpoint/2010/main" val="5272381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9D6E8-A928-DF37-0B20-DF16930D94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8EDE5F-7C0C-8767-55C3-CBF21D55B23E}"/>
              </a:ext>
            </a:extLst>
          </p:cNvPr>
          <p:cNvSpPr>
            <a:spLocks noGrp="1"/>
          </p:cNvSpPr>
          <p:nvPr>
            <p:ph type="title"/>
          </p:nvPr>
        </p:nvSpPr>
        <p:spPr/>
        <p:txBody>
          <a:bodyPr/>
          <a:lstStyle/>
          <a:p>
            <a:r>
              <a:rPr lang="en-US" dirty="0"/>
              <a:t>Database Account Creation Test Cases</a:t>
            </a:r>
          </a:p>
        </p:txBody>
      </p:sp>
      <p:sp>
        <p:nvSpPr>
          <p:cNvPr id="3" name="Content Placeholder 2">
            <a:extLst>
              <a:ext uri="{FF2B5EF4-FFF2-40B4-BE49-F238E27FC236}">
                <a16:creationId xmlns:a16="http://schemas.microsoft.com/office/drawing/2014/main" id="{C8C9DCD1-8B91-8F5B-381E-38A0E24824C5}"/>
              </a:ext>
            </a:extLst>
          </p:cNvPr>
          <p:cNvSpPr>
            <a:spLocks noGrp="1"/>
          </p:cNvSpPr>
          <p:nvPr>
            <p:ph idx="1"/>
          </p:nvPr>
        </p:nvSpPr>
        <p:spPr/>
        <p:txBody>
          <a:bodyPr>
            <a:normAutofit/>
          </a:bodyPr>
          <a:lstStyle/>
          <a:p>
            <a:pPr marL="514350" indent="-514350">
              <a:buFont typeface="+mj-lt"/>
              <a:buAutoNum type="arabicPeriod"/>
            </a:pPr>
            <a:r>
              <a:rPr lang="en-US" sz="2400" dirty="0"/>
              <a:t>Test with username that matches an existing username.</a:t>
            </a:r>
          </a:p>
          <a:p>
            <a:pPr marL="514350" indent="-514350">
              <a:buFont typeface="+mj-lt"/>
              <a:buAutoNum type="arabicPeriod"/>
            </a:pPr>
            <a:r>
              <a:rPr lang="en-US" sz="2400" dirty="0"/>
              <a:t>Test with correct username and incorrect password.</a:t>
            </a:r>
          </a:p>
          <a:p>
            <a:pPr marL="514350" indent="-514350">
              <a:buFont typeface="+mj-lt"/>
              <a:buAutoNum type="arabicPeriod"/>
            </a:pPr>
            <a:r>
              <a:rPr lang="en-US" sz="2400" dirty="0"/>
              <a:t>Test with incorrect username and incorrect password.</a:t>
            </a:r>
          </a:p>
          <a:p>
            <a:pPr marL="514350" indent="-514350">
              <a:buFont typeface="+mj-lt"/>
              <a:buAutoNum type="arabicPeriod"/>
            </a:pPr>
            <a:r>
              <a:rPr lang="en-US" sz="2400" dirty="0"/>
              <a:t>Test with all username test cases.</a:t>
            </a:r>
          </a:p>
          <a:p>
            <a:pPr marL="514350" indent="-514350">
              <a:buFont typeface="+mj-lt"/>
              <a:buAutoNum type="arabicPeriod"/>
            </a:pPr>
            <a:r>
              <a:rPr lang="en-US" sz="2400" dirty="0"/>
              <a:t>Test with all password test cases. </a:t>
            </a:r>
          </a:p>
          <a:p>
            <a:pPr marL="0" indent="0">
              <a:buNone/>
            </a:pPr>
            <a:endParaRPr lang="en-US" sz="2400" dirty="0"/>
          </a:p>
        </p:txBody>
      </p:sp>
    </p:spTree>
    <p:extLst>
      <p:ext uri="{BB962C8B-B14F-4D97-AF65-F5344CB8AC3E}">
        <p14:creationId xmlns:p14="http://schemas.microsoft.com/office/powerpoint/2010/main" val="32886447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177</TotalTime>
  <Words>1022</Words>
  <Application>Microsoft Office PowerPoint</Application>
  <PresentationFormat>Widescreen</PresentationFormat>
  <Paragraphs>132</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Aptos</vt:lpstr>
      <vt:lpstr>Aptos Display</vt:lpstr>
      <vt:lpstr>Arial</vt:lpstr>
      <vt:lpstr>Office Theme</vt:lpstr>
      <vt:lpstr>[Magic Schedule Generator]</vt:lpstr>
      <vt:lpstr>Definitions </vt:lpstr>
      <vt:lpstr>Login and Authentication</vt:lpstr>
      <vt:lpstr>Login and Authentication</vt:lpstr>
      <vt:lpstr>Username Test Cases</vt:lpstr>
      <vt:lpstr>Password Test Cases</vt:lpstr>
      <vt:lpstr>Account Types</vt:lpstr>
      <vt:lpstr>Account Types</vt:lpstr>
      <vt:lpstr>Student Account Test Cases</vt:lpstr>
      <vt:lpstr>Faculty Account Test Cases</vt:lpstr>
      <vt:lpstr>Admin Account Test Cases</vt:lpstr>
      <vt:lpstr>Scheduling Algorithm</vt:lpstr>
      <vt:lpstr>Scheduling Algorithm</vt:lpstr>
      <vt:lpstr>Scheduling Algorithm Test Cases</vt:lpstr>
      <vt:lpstr>Schedule Display</vt:lpstr>
      <vt:lpstr>Schedule Display</vt:lpstr>
      <vt:lpstr>Schedule Display Test Cases</vt:lpstr>
      <vt:lpstr>Database</vt:lpstr>
      <vt:lpstr>Database</vt:lpstr>
      <vt:lpstr>Database Verification Test Cases</vt:lpstr>
      <vt:lpstr>Database Account Creation Test Cases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Sean Banerjee</dc:creator>
  <cp:lastModifiedBy>Martin, Shane</cp:lastModifiedBy>
  <cp:revision>22</cp:revision>
  <dcterms:created xsi:type="dcterms:W3CDTF">2025-02-02T14:41:24Z</dcterms:created>
  <dcterms:modified xsi:type="dcterms:W3CDTF">2025-09-18T19:41:23Z</dcterms:modified>
</cp:coreProperties>
</file>